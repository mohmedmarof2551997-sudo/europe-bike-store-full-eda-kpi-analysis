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charts/chart5.xml" ContentType="application/vnd.openxmlformats-officedocument.drawingml.chart+xml"/>
  <Override PartName="/ppt/notesSlides/notesSlide9.xml" ContentType="application/vnd.openxmlformats-officedocument.presentationml.notesSlide+xml"/>
  <Override PartName="/ppt/charts/chart6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3450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1E3450"/>
                </a:solidFill>
                <a:latin typeface="Arial"/>
              </a:rPr>
              <a:t>Annual Revenue Performance (2011–2016)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1E345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5504-4EB2-A3C1-32A6392052EC}"/>
              </c:ext>
            </c:extLst>
          </c:dPt>
          <c:dPt>
            <c:idx val="1"/>
            <c:invertIfNegative val="0"/>
            <c:bubble3D val="0"/>
            <c:spPr>
              <a:solidFill>
                <a:srgbClr val="2C4A6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504-4EB2-A3C1-32A6392052EC}"/>
              </c:ext>
            </c:extLst>
          </c:dPt>
          <c:dPt>
            <c:idx val="2"/>
            <c:invertIfNegative val="0"/>
            <c:bubble3D val="0"/>
            <c:spPr>
              <a:solidFill>
                <a:srgbClr val="2A9D8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504-4EB2-A3C1-32A6392052EC}"/>
              </c:ext>
            </c:extLst>
          </c:dPt>
          <c:dPt>
            <c:idx val="3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5504-4EB2-A3C1-32A6392052EC}"/>
              </c:ext>
            </c:extLst>
          </c:dPt>
          <c:dPt>
            <c:idx val="4"/>
            <c:invertIfNegative val="0"/>
            <c:bubble3D val="0"/>
            <c:spPr>
              <a:solidFill>
                <a:srgbClr val="E07B3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5504-4EB2-A3C1-32A6392052EC}"/>
              </c:ext>
            </c:extLst>
          </c:dPt>
          <c:dPt>
            <c:idx val="5"/>
            <c:invertIfNegative val="0"/>
            <c:bubble3D val="0"/>
            <c:spPr>
              <a:solidFill>
                <a:srgbClr val="2A9D8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5504-4EB2-A3C1-32A6392052EC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 b="0" i="0" u="none" strike="noStrike">
                    <a:solidFill>
                      <a:srgbClr val="1E345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8.9499999999999993</c:v>
                </c:pt>
                <c:pt idx="1">
                  <c:v>9.1300000000000008</c:v>
                </c:pt>
                <c:pt idx="2">
                  <c:v>15.12</c:v>
                </c:pt>
                <c:pt idx="3">
                  <c:v>14.04</c:v>
                </c:pt>
                <c:pt idx="4">
                  <c:v>19.95</c:v>
                </c:pt>
                <c:pt idx="5">
                  <c:v>17.64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5504-4EB2-A3C1-32A6392052E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778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EF2F7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sz="900" b="0" i="0" u="none" strike="noStrike">
                    <a:solidFill>
                      <a:srgbClr val="000000"/>
                    </a:solidFill>
                    <a:latin typeface="Arial"/>
                  </a:rPr>
                  <a:t>Revenue ($M)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77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r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E3450"/>
                </a:solidFill>
                <a:latin typeface="Arial"/>
              </a:defRPr>
            </a:pPr>
            <a:r>
              <a:rPr lang="en-US" sz="1000" b="0" i="0" u="none" strike="noStrike">
                <a:solidFill>
                  <a:srgbClr val="1E3450"/>
                </a:solidFill>
                <a:latin typeface="Arial"/>
              </a:rPr>
              <a:t>Monthly Revenue Seasonality ($M)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2C4A6E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2C4A6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0DA-4D73-BD24-9BED456E2F2E}"/>
              </c:ext>
            </c:extLst>
          </c:dPt>
          <c:dPt>
            <c:idx val="1"/>
            <c:invertIfNegative val="0"/>
            <c:bubble3D val="0"/>
            <c:spPr>
              <a:solidFill>
                <a:srgbClr val="2C4A6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0DA-4D73-BD24-9BED456E2F2E}"/>
              </c:ext>
            </c:extLst>
          </c:dPt>
          <c:dPt>
            <c:idx val="2"/>
            <c:invertIfNegative val="0"/>
            <c:bubble3D val="0"/>
            <c:spPr>
              <a:solidFill>
                <a:srgbClr val="2C4A6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0DA-4D73-BD24-9BED456E2F2E}"/>
              </c:ext>
            </c:extLst>
          </c:dPt>
          <c:dPt>
            <c:idx val="3"/>
            <c:invertIfNegative val="0"/>
            <c:bubble3D val="0"/>
            <c:spPr>
              <a:solidFill>
                <a:srgbClr val="2A9D8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0DA-4D73-BD24-9BED456E2F2E}"/>
              </c:ext>
            </c:extLst>
          </c:dPt>
          <c:dPt>
            <c:idx val="4"/>
            <c:invertIfNegative val="0"/>
            <c:bubble3D val="0"/>
            <c:spPr>
              <a:solidFill>
                <a:srgbClr val="E07B3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60DA-4D73-BD24-9BED456E2F2E}"/>
              </c:ext>
            </c:extLst>
          </c:dPt>
          <c:dPt>
            <c:idx val="5"/>
            <c:invertIfNegative val="0"/>
            <c:bubble3D val="0"/>
            <c:spPr>
              <a:solidFill>
                <a:srgbClr val="E07B3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60DA-4D73-BD24-9BED456E2F2E}"/>
              </c:ext>
            </c:extLst>
          </c:dPt>
          <c:dPt>
            <c:idx val="6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60DA-4D73-BD24-9BED456E2F2E}"/>
              </c:ext>
            </c:extLst>
          </c:dPt>
          <c:dPt>
            <c:idx val="7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60DA-4D73-BD24-9BED456E2F2E}"/>
              </c:ext>
            </c:extLst>
          </c:dPt>
          <c:dPt>
            <c:idx val="8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60DA-4D73-BD24-9BED456E2F2E}"/>
              </c:ext>
            </c:extLst>
          </c:dPt>
          <c:dPt>
            <c:idx val="9"/>
            <c:invertIfNegative val="0"/>
            <c:bubble3D val="0"/>
            <c:spPr>
              <a:solidFill>
                <a:srgbClr val="2C4A6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60DA-4D73-BD24-9BED456E2F2E}"/>
              </c:ext>
            </c:extLst>
          </c:dPt>
          <c:dPt>
            <c:idx val="10"/>
            <c:invertIfNegative val="0"/>
            <c:bubble3D val="0"/>
            <c:spPr>
              <a:solidFill>
                <a:srgbClr val="2C4A6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5-60DA-4D73-BD24-9BED456E2F2E}"/>
              </c:ext>
            </c:extLst>
          </c:dPt>
          <c:dPt>
            <c:idx val="11"/>
            <c:invertIfNegative val="0"/>
            <c:bubble3D val="0"/>
            <c:spPr>
              <a:solidFill>
                <a:srgbClr val="1E345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7-60DA-4D73-BD24-9BED456E2F2E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 b="0" i="0" u="none" strike="noStrike">
                    <a:solidFill>
                      <a:srgbClr val="1E345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6.96</c:v>
                </c:pt>
                <c:pt idx="1">
                  <c:v>6.81</c:v>
                </c:pt>
                <c:pt idx="2">
                  <c:v>7.31</c:v>
                </c:pt>
                <c:pt idx="3">
                  <c:v>7.57</c:v>
                </c:pt>
                <c:pt idx="4">
                  <c:v>8.7899999999999991</c:v>
                </c:pt>
                <c:pt idx="5">
                  <c:v>8.98</c:v>
                </c:pt>
                <c:pt idx="6">
                  <c:v>5.69</c:v>
                </c:pt>
                <c:pt idx="7">
                  <c:v>5.69</c:v>
                </c:pt>
                <c:pt idx="8">
                  <c:v>5.82</c:v>
                </c:pt>
                <c:pt idx="9">
                  <c:v>5.96</c:v>
                </c:pt>
                <c:pt idx="10">
                  <c:v>6.21</c:v>
                </c:pt>
                <c:pt idx="11">
                  <c:v>9.0500000000000007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8-60DA-4D73-BD24-9BED456E2F2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778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EF2F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77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E3450"/>
                </a:solidFill>
                <a:latin typeface="Arial"/>
              </a:defRPr>
            </a:pPr>
            <a:r>
              <a:rPr lang="en-US" sz="1000" b="0" i="0" u="none" strike="noStrike">
                <a:solidFill>
                  <a:srgbClr val="1E3450"/>
                </a:solidFill>
                <a:latin typeface="Arial"/>
              </a:rPr>
              <a:t>Revenue by Product Category ($M)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1E345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699-4630-8C30-0B02815F6FC2}"/>
              </c:ext>
            </c:extLst>
          </c:dPt>
          <c:dPt>
            <c:idx val="1"/>
            <c:invertIfNegative val="0"/>
            <c:bubble3D val="0"/>
            <c:spPr>
              <a:solidFill>
                <a:srgbClr val="2A9D8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699-4630-8C30-0B02815F6FC2}"/>
              </c:ext>
            </c:extLst>
          </c:dPt>
          <c:dPt>
            <c:idx val="2"/>
            <c:invertIfNegative val="0"/>
            <c:bubble3D val="0"/>
            <c:spPr>
              <a:solidFill>
                <a:srgbClr val="E07B3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699-4630-8C30-0B02815F6FC2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E345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Bikes</c:v>
                </c:pt>
                <c:pt idx="1">
                  <c:v>Accessories</c:v>
                </c:pt>
                <c:pt idx="2">
                  <c:v>Clothing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61.4</c:v>
                </c:pt>
                <c:pt idx="1">
                  <c:v>15</c:v>
                </c:pt>
                <c:pt idx="2">
                  <c:v>8.4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699-4630-8C30-0B02815F6FC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778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EF2F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77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E3450"/>
                </a:solidFill>
                <a:latin typeface="Arial"/>
              </a:defRPr>
            </a:pPr>
            <a:r>
              <a:rPr lang="en-US" sz="1000" b="0" i="0" u="none" strike="noStrike">
                <a:solidFill>
                  <a:srgbClr val="1E3450"/>
                </a:solidFill>
                <a:latin typeface="Arial"/>
              </a:rPr>
              <a:t>Top Sub-Categories ($M)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73A-479E-B7DA-9B72783C36EA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F73A-479E-B7DA-9B72783C36EA}"/>
              </c:ext>
            </c:extLst>
          </c:dPt>
          <c:dPt>
            <c:idx val="2"/>
            <c:invertIfNegative val="0"/>
            <c:bubble3D val="0"/>
            <c:spPr>
              <a:solidFill>
                <a:srgbClr val="F5A05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73A-479E-B7DA-9B72783C36EA}"/>
              </c:ext>
            </c:extLst>
          </c:dPt>
          <c:dPt>
            <c:idx val="3"/>
            <c:invertIfNegative val="0"/>
            <c:bubble3D val="0"/>
            <c:spPr>
              <a:solidFill>
                <a:srgbClr val="2A9D8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73A-479E-B7DA-9B72783C36EA}"/>
              </c:ext>
            </c:extLst>
          </c:dPt>
          <c:dPt>
            <c:idx val="4"/>
            <c:invertIfNegative val="0"/>
            <c:bubble3D val="0"/>
            <c:spPr>
              <a:solidFill>
                <a:srgbClr val="2A9D8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F73A-479E-B7DA-9B72783C36EA}"/>
              </c:ext>
            </c:extLst>
          </c:dPt>
          <c:dPt>
            <c:idx val="5"/>
            <c:invertIfNegative val="0"/>
            <c:bubble3D val="0"/>
            <c:spPr>
              <a:solidFill>
                <a:srgbClr val="3A649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F73A-479E-B7DA-9B72783C36EA}"/>
              </c:ext>
            </c:extLst>
          </c:dPt>
          <c:dPt>
            <c:idx val="6"/>
            <c:invertIfNegative val="0"/>
            <c:bubble3D val="0"/>
            <c:spPr>
              <a:solidFill>
                <a:srgbClr val="2C4A6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F73A-479E-B7DA-9B72783C36EA}"/>
              </c:ext>
            </c:extLst>
          </c:dPt>
          <c:dPt>
            <c:idx val="7"/>
            <c:invertIfNegative val="0"/>
            <c:bubble3D val="0"/>
            <c:spPr>
              <a:solidFill>
                <a:srgbClr val="1E345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F73A-479E-B7DA-9B72783C36E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345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Bottles</c:v>
                </c:pt>
                <c:pt idx="1">
                  <c:v>Shorts</c:v>
                </c:pt>
                <c:pt idx="2">
                  <c:v>Jerseys</c:v>
                </c:pt>
                <c:pt idx="3">
                  <c:v>Tires&amp;Tubes</c:v>
                </c:pt>
                <c:pt idx="4">
                  <c:v>Helmets</c:v>
                </c:pt>
                <c:pt idx="5">
                  <c:v>Touring</c:v>
                </c:pt>
                <c:pt idx="6">
                  <c:v>Mtn Bikes</c:v>
                </c:pt>
                <c:pt idx="7">
                  <c:v>Road Bikes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1.4</c:v>
                </c:pt>
                <c:pt idx="1">
                  <c:v>1.7</c:v>
                </c:pt>
                <c:pt idx="2">
                  <c:v>4.0999999999999996</c:v>
                </c:pt>
                <c:pt idx="3">
                  <c:v>4.5999999999999996</c:v>
                </c:pt>
                <c:pt idx="4">
                  <c:v>5.7</c:v>
                </c:pt>
                <c:pt idx="5">
                  <c:v>7.3</c:v>
                </c:pt>
                <c:pt idx="6">
                  <c:v>21</c:v>
                </c:pt>
                <c:pt idx="7">
                  <c:v>33.200000000000003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F73A-479E-B7DA-9B72783C36E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778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EF2F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77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E3450"/>
                </a:solidFill>
                <a:latin typeface="Arial"/>
              </a:defRPr>
            </a:pPr>
            <a:r>
              <a:rPr lang="en-US" sz="1000" b="0" i="0" u="none" strike="noStrike">
                <a:solidFill>
                  <a:srgbClr val="1E3450"/>
                </a:solidFill>
                <a:latin typeface="Arial"/>
              </a:rPr>
              <a:t>Revenue by Age Group ($M)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1E3450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E345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1B6A-4FC5-9803-3EB765B37104}"/>
              </c:ext>
            </c:extLst>
          </c:dPt>
          <c:dPt>
            <c:idx val="1"/>
            <c:invertIfNegative val="0"/>
            <c:bubble3D val="0"/>
            <c:spPr>
              <a:solidFill>
                <a:srgbClr val="2C4A6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B6A-4FC5-9803-3EB765B37104}"/>
              </c:ext>
            </c:extLst>
          </c:dPt>
          <c:dPt>
            <c:idx val="2"/>
            <c:invertIfNegative val="0"/>
            <c:bubble3D val="0"/>
            <c:spPr>
              <a:solidFill>
                <a:srgbClr val="2A9D8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B6A-4FC5-9803-3EB765B37104}"/>
              </c:ext>
            </c:extLst>
          </c:dPt>
          <c:dPt>
            <c:idx val="3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1B6A-4FC5-9803-3EB765B37104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 b="0" i="0" u="none" strike="noStrike">
                    <a:solidFill>
                      <a:srgbClr val="1E345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Adults 35-64</c:v>
                </c:pt>
                <c:pt idx="1">
                  <c:v>Young Adults 25-34</c:v>
                </c:pt>
                <c:pt idx="2">
                  <c:v>Youth &lt;25</c:v>
                </c:pt>
                <c:pt idx="3">
                  <c:v>Seniors 64+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42.1</c:v>
                </c:pt>
                <c:pt idx="1">
                  <c:v>30.4</c:v>
                </c:pt>
                <c:pt idx="2">
                  <c:v>11.7</c:v>
                </c:pt>
                <c:pt idx="3">
                  <c:v>0.31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1B6A-4FC5-9803-3EB765B3710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6778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EF2F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77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3450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1E3450"/>
                </a:solidFill>
                <a:latin typeface="Arial"/>
              </a:rPr>
              <a:t>Top Countries by Revenue ($M)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1E3450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E345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18BA-4A02-A3A1-6D606CA86C94}"/>
              </c:ext>
            </c:extLst>
          </c:dPt>
          <c:dPt>
            <c:idx val="1"/>
            <c:invertIfNegative val="0"/>
            <c:bubble3D val="0"/>
            <c:spPr>
              <a:solidFill>
                <a:srgbClr val="2C4A6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8BA-4A02-A3A1-6D606CA86C94}"/>
              </c:ext>
            </c:extLst>
          </c:dPt>
          <c:dPt>
            <c:idx val="2"/>
            <c:invertIfNegative val="0"/>
            <c:bubble3D val="0"/>
            <c:spPr>
              <a:solidFill>
                <a:srgbClr val="3A649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8BA-4A02-A3A1-6D606CA86C94}"/>
              </c:ext>
            </c:extLst>
          </c:dPt>
          <c:dPt>
            <c:idx val="3"/>
            <c:invertIfNegative val="0"/>
            <c:bubble3D val="0"/>
            <c:spPr>
              <a:solidFill>
                <a:srgbClr val="3A8F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18BA-4A02-A3A1-6D606CA86C94}"/>
              </c:ext>
            </c:extLst>
          </c:dPt>
          <c:dPt>
            <c:idx val="4"/>
            <c:invertIfNegative val="0"/>
            <c:bubble3D val="0"/>
            <c:spPr>
              <a:solidFill>
                <a:srgbClr val="2A9D8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18BA-4A02-A3A1-6D606CA86C94}"/>
              </c:ext>
            </c:extLst>
          </c:dPt>
          <c:dPt>
            <c:idx val="5"/>
            <c:invertIfNegative val="0"/>
            <c:bubble3D val="0"/>
            <c:spPr>
              <a:solidFill>
                <a:srgbClr val="E07B3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18BA-4A02-A3A1-6D606CA86C94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345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United States</c:v>
                </c:pt>
                <c:pt idx="1">
                  <c:v>Australia</c:v>
                </c:pt>
                <c:pt idx="2">
                  <c:v>United Kingdom</c:v>
                </c:pt>
                <c:pt idx="3">
                  <c:v>Germany</c:v>
                </c:pt>
                <c:pt idx="4">
                  <c:v>France</c:v>
                </c:pt>
                <c:pt idx="5">
                  <c:v>Canada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27.8</c:v>
                </c:pt>
                <c:pt idx="1">
                  <c:v>21.2</c:v>
                </c:pt>
                <c:pt idx="2">
                  <c:v>10.6</c:v>
                </c:pt>
                <c:pt idx="3">
                  <c:v>8.9</c:v>
                </c:pt>
                <c:pt idx="4">
                  <c:v>8.4</c:v>
                </c:pt>
                <c:pt idx="5">
                  <c:v>7.9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18BA-4A02-A3A1-6D606CA86C9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778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EF2F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77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r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80128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8046720" y="4297680"/>
            <a:ext cx="822960" cy="822960"/>
          </a:xfrm>
          <a:prstGeom prst="ellipse">
            <a:avLst/>
          </a:prstGeom>
          <a:solidFill>
            <a:srgbClr val="16294A"/>
          </a:solidFill>
          <a:ln w="12700">
            <a:solidFill>
              <a:srgbClr val="1629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438912" cy="51435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777240"/>
            <a:ext cx="8046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Europe Bike Store</a:t>
            </a:r>
            <a:endParaRPr lang="en-US" sz="5600" dirty="0"/>
          </a:p>
        </p:txBody>
      </p:sp>
      <p:sp>
        <p:nvSpPr>
          <p:cNvPr id="11" name="Shape 9"/>
          <p:cNvSpPr/>
          <p:nvPr/>
        </p:nvSpPr>
        <p:spPr>
          <a:xfrm>
            <a:off x="1280160" y="1993392"/>
            <a:ext cx="1691640" cy="6400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17520" y="184708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07B3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EDA Analysis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172200" y="1993392"/>
            <a:ext cx="1691640" cy="6400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2377440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5000"/>
              </a:lnSpc>
              <a:buNone/>
            </a:pPr>
            <a:r>
              <a:rPr lang="en-US" sz="1050" dirty="0">
                <a:solidFill>
                  <a:srgbClr val="AABCCE"/>
                </a:solidFill>
              </a:rPr>
              <a:t>Exploratory Data Analysis on Sales, Products, Customers &amp; Geography</a:t>
            </a:r>
            <a:endParaRPr lang="en-US" sz="1050" dirty="0"/>
          </a:p>
          <a:p>
            <a:pPr marL="0" indent="0" algn="ctr">
              <a:lnSpc>
                <a:spcPct val="155000"/>
              </a:lnSpc>
              <a:buNone/>
            </a:pPr>
            <a:r>
              <a:rPr lang="en-US" sz="1050" dirty="0">
                <a:solidFill>
                  <a:srgbClr val="AABCCE"/>
                </a:solidFill>
              </a:rPr>
              <a:t>Revenue trends, product performance, and strategic insights  ·  2011–2016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389888" y="3218688"/>
            <a:ext cx="1234440" cy="676656"/>
          </a:xfrm>
          <a:prstGeom prst="roundRect">
            <a:avLst>
              <a:gd name="adj" fmla="val 12162"/>
            </a:avLst>
          </a:prstGeom>
          <a:solidFill>
            <a:srgbClr val="223C6A"/>
          </a:solidFill>
          <a:ln w="12700">
            <a:solidFill>
              <a:srgbClr val="3040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89888" y="326440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00000"/>
                </a:solidFill>
              </a:rPr>
              <a:t>🐍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389888" y="3538728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Python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743200" y="3218688"/>
            <a:ext cx="1234440" cy="676656"/>
          </a:xfrm>
          <a:prstGeom prst="roundRect">
            <a:avLst>
              <a:gd name="adj" fmla="val 12162"/>
            </a:avLst>
          </a:prstGeom>
          <a:solidFill>
            <a:srgbClr val="223C6A"/>
          </a:solidFill>
          <a:ln w="12700">
            <a:solidFill>
              <a:srgbClr val="3040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0" y="326440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00000"/>
                </a:solidFill>
              </a:rPr>
              <a:t>🐼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2743200" y="3538728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Pandas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096512" y="3218688"/>
            <a:ext cx="1234440" cy="676656"/>
          </a:xfrm>
          <a:prstGeom prst="roundRect">
            <a:avLst>
              <a:gd name="adj" fmla="val 12162"/>
            </a:avLst>
          </a:prstGeom>
          <a:solidFill>
            <a:srgbClr val="223C6A"/>
          </a:solidFill>
          <a:ln w="12700">
            <a:solidFill>
              <a:srgbClr val="3040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96512" y="326440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00000"/>
                </a:solidFill>
              </a:rPr>
              <a:t>📊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096512" y="3538728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Matplotlib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449824" y="3218688"/>
            <a:ext cx="1234440" cy="676656"/>
          </a:xfrm>
          <a:prstGeom prst="roundRect">
            <a:avLst>
              <a:gd name="adj" fmla="val 12162"/>
            </a:avLst>
          </a:prstGeom>
          <a:solidFill>
            <a:srgbClr val="223C6A"/>
          </a:solidFill>
          <a:ln w="12700">
            <a:solidFill>
              <a:srgbClr val="3040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49824" y="326440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00000"/>
                </a:solidFill>
              </a:rPr>
              <a:t>🎨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5449824" y="3538728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Seaborn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803136" y="3218688"/>
            <a:ext cx="1234440" cy="676656"/>
          </a:xfrm>
          <a:prstGeom prst="roundRect">
            <a:avLst>
              <a:gd name="adj" fmla="val 12162"/>
            </a:avLst>
          </a:prstGeom>
          <a:solidFill>
            <a:srgbClr val="223C6A"/>
          </a:solidFill>
          <a:ln w="12700">
            <a:solidFill>
              <a:srgbClr val="30408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03136" y="326440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00000"/>
                </a:solidFill>
              </a:rPr>
              <a:t>📓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6803136" y="3538728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Jupyter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58368" y="4069080"/>
            <a:ext cx="1901952" cy="749808"/>
          </a:xfrm>
          <a:prstGeom prst="roundRect">
            <a:avLst>
              <a:gd name="adj" fmla="val 12195"/>
            </a:avLst>
          </a:prstGeom>
          <a:solidFill>
            <a:srgbClr val="1A3260"/>
          </a:solidFill>
          <a:ln w="12700">
            <a:solidFill>
              <a:srgbClr val="243C74"/>
            </a:solidFill>
            <a:prstDash val="solid"/>
          </a:ln>
          <a:effectLst>
            <a:outerShdw blurRad="127000" dist="25400" dir="8100000" algn="bl" rotWithShape="0">
              <a:srgbClr val="1A2E4A">
                <a:alpha val="9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58368" y="4133088"/>
            <a:ext cx="1901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A9D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$84.8M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58368" y="4507992"/>
            <a:ext cx="19019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AABCC"/>
                </a:solidFill>
              </a:rPr>
              <a:t>Total Revenue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724912" y="4069080"/>
            <a:ext cx="1901952" cy="749808"/>
          </a:xfrm>
          <a:prstGeom prst="roundRect">
            <a:avLst>
              <a:gd name="adj" fmla="val 12195"/>
            </a:avLst>
          </a:prstGeom>
          <a:solidFill>
            <a:srgbClr val="1A3260"/>
          </a:solidFill>
          <a:ln w="12700">
            <a:solidFill>
              <a:srgbClr val="243C74"/>
            </a:solidFill>
            <a:prstDash val="solid"/>
          </a:ln>
          <a:effectLst>
            <a:outerShdw blurRad="127000" dist="25400" dir="8100000" algn="bl" rotWithShape="0">
              <a:srgbClr val="1A2E4A">
                <a:alpha val="9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2724912" y="4133088"/>
            <a:ext cx="1901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A9D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113K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2724912" y="4507992"/>
            <a:ext cx="19019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AABCC"/>
                </a:solidFill>
              </a:rPr>
              <a:t>Orders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791456" y="4069080"/>
            <a:ext cx="1901952" cy="749808"/>
          </a:xfrm>
          <a:prstGeom prst="roundRect">
            <a:avLst>
              <a:gd name="adj" fmla="val 12195"/>
            </a:avLst>
          </a:prstGeom>
          <a:solidFill>
            <a:srgbClr val="1A3260"/>
          </a:solidFill>
          <a:ln w="12700">
            <a:solidFill>
              <a:srgbClr val="243C74"/>
            </a:solidFill>
            <a:prstDash val="solid"/>
          </a:ln>
          <a:effectLst>
            <a:outerShdw blurRad="127000" dist="25400" dir="8100000" algn="bl" rotWithShape="0">
              <a:srgbClr val="1A2E4A">
                <a:alpha val="9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791456" y="4133088"/>
            <a:ext cx="1901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A9D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4791456" y="4507992"/>
            <a:ext cx="19019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AABCC"/>
                </a:solidFill>
              </a:rPr>
              <a:t>Countries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858000" y="4069080"/>
            <a:ext cx="1901952" cy="749808"/>
          </a:xfrm>
          <a:prstGeom prst="roundRect">
            <a:avLst>
              <a:gd name="adj" fmla="val 12195"/>
            </a:avLst>
          </a:prstGeom>
          <a:solidFill>
            <a:srgbClr val="1A3260"/>
          </a:solidFill>
          <a:ln w="12700">
            <a:solidFill>
              <a:srgbClr val="243C74"/>
            </a:solidFill>
            <a:prstDash val="solid"/>
          </a:ln>
          <a:effectLst>
            <a:outerShdw blurRad="127000" dist="25400" dir="8100000" algn="bl" rotWithShape="0">
              <a:srgbClr val="1A2E4A">
                <a:alpha val="9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858000" y="4133088"/>
            <a:ext cx="1901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A9D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2015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6858000" y="4507992"/>
            <a:ext cx="19019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AABCC"/>
                </a:solidFill>
              </a:rPr>
              <a:t>Peak Year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400800" y="4919472"/>
            <a:ext cx="1737360" cy="4572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00800" y="4983480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799BB"/>
                </a:solidFill>
              </a:rPr>
              <a:t>Data Analysis Team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8046720" y="4297680"/>
            <a:ext cx="822960" cy="822960"/>
          </a:xfrm>
          <a:prstGeom prst="ellipse">
            <a:avLst/>
          </a:prstGeom>
          <a:solidFill>
            <a:srgbClr val="D5E5F5"/>
          </a:solidFill>
          <a:ln w="12700">
            <a:solidFill>
              <a:srgbClr val="D5E5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450"/>
          </a:solidFill>
          <a:ln w="12700">
            <a:solidFill>
              <a:srgbClr val="1E34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54480" y="91440"/>
            <a:ext cx="7498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Overview: From Data to Decisions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0" y="4919472"/>
            <a:ext cx="9144000" cy="201168"/>
          </a:xfrm>
          <a:prstGeom prst="rect">
            <a:avLst/>
          </a:prstGeom>
          <a:solidFill>
            <a:srgbClr val="DDE8F4"/>
          </a:solidFill>
          <a:ln w="12700">
            <a:solidFill>
              <a:srgbClr val="DDE8F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46304" y="4956048"/>
            <a:ext cx="118872" cy="118872"/>
          </a:xfrm>
          <a:prstGeom prst="ellipse">
            <a:avLst/>
          </a:prstGeom>
          <a:solidFill>
            <a:srgbClr val="1E3450"/>
          </a:solidFill>
          <a:ln w="12700">
            <a:solidFill>
              <a:srgbClr val="1E34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493776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E3450"/>
                </a:solidFill>
              </a:rPr>
              <a:t>DATA INSIGHTS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6492240" y="5001768"/>
            <a:ext cx="914400" cy="36576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4937760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</a:rPr>
              <a:t>Europe Bike Store  •  EDA Analysis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74320" y="896112"/>
            <a:ext cx="4187952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6350">
            <a:solidFill>
              <a:srgbClr val="E2EAF4"/>
            </a:solidFill>
            <a:prstDash val="solid"/>
          </a:ln>
          <a:effectLst>
            <a:outerShdw blurRad="127000" dist="25400" dir="8100000" algn="bl" rotWithShape="0">
              <a:srgbClr val="1A2E4A">
                <a:alpha val="9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94176" y="1033272"/>
            <a:ext cx="621792" cy="621792"/>
          </a:xfrm>
          <a:prstGeom prst="ellipse">
            <a:avLst/>
          </a:prstGeom>
          <a:solidFill>
            <a:srgbClr val="FAE8D4"/>
          </a:solidFill>
          <a:ln w="12700">
            <a:solidFill>
              <a:srgbClr val="FAE8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94176" y="1051560"/>
            <a:ext cx="621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📁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38912" y="1097280"/>
            <a:ext cx="438912" cy="438912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" y="10972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05840" y="109728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450"/>
                </a:solidFill>
              </a:rPr>
              <a:t>Data Loading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38912" y="1536192"/>
            <a:ext cx="385876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</a:rPr>
              <a:t>Loaded 113,036 sales records spanning 2011–2016. Dataset includes 18 columns covering dates, demographics, geography, products and financial metrics.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896112"/>
            <a:ext cx="4187952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6350">
            <a:solidFill>
              <a:srgbClr val="E2EAF4"/>
            </a:solidFill>
            <a:prstDash val="solid"/>
          </a:ln>
          <a:effectLst>
            <a:outerShdw blurRad="127000" dist="25400" dir="8100000" algn="bl" rotWithShape="0">
              <a:srgbClr val="1A2E4A">
                <a:alpha val="9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083296" y="1033272"/>
            <a:ext cx="621792" cy="621792"/>
          </a:xfrm>
          <a:prstGeom prst="ellipse">
            <a:avLst/>
          </a:prstGeom>
          <a:solidFill>
            <a:srgbClr val="FAE8D4"/>
          </a:solidFill>
          <a:ln w="12700">
            <a:solidFill>
              <a:srgbClr val="FAE8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83296" y="1051560"/>
            <a:ext cx="621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4828032" y="1097280"/>
            <a:ext cx="438912" cy="438912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28032" y="10972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394960" y="109728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450"/>
                </a:solidFill>
              </a:rPr>
              <a:t>Exploratory Analysis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28032" y="1536192"/>
            <a:ext cx="385876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</a:rPr>
              <a:t>Analyzed 6-year revenue trends, monthly seasonality, geographic performance across 6 countries, product category profitability, and customer segments.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74320" y="2935224"/>
            <a:ext cx="4187952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6350">
            <a:solidFill>
              <a:srgbClr val="E2EAF4"/>
            </a:solidFill>
            <a:prstDash val="solid"/>
          </a:ln>
          <a:effectLst>
            <a:outerShdw blurRad="127000" dist="25400" dir="8100000" algn="bl" rotWithShape="0">
              <a:srgbClr val="1A2E4A">
                <a:alpha val="9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694176" y="3072384"/>
            <a:ext cx="621792" cy="621792"/>
          </a:xfrm>
          <a:prstGeom prst="ellipse">
            <a:avLst/>
          </a:prstGeom>
          <a:solidFill>
            <a:srgbClr val="FAE8D4"/>
          </a:solidFill>
          <a:ln w="12700">
            <a:solidFill>
              <a:srgbClr val="FAE8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94176" y="3090672"/>
            <a:ext cx="621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438912" y="3136392"/>
            <a:ext cx="438912" cy="438912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8912" y="31363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005840" y="313639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450"/>
                </a:solidFill>
              </a:rPr>
              <a:t>Visual Insights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38912" y="3575304"/>
            <a:ext cx="385876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</a:rPr>
              <a:t>Developed 25+ data visualisations including annual bar charts, seasonality plots, country/sub-category breakdowns and demographic heatmaps.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663440" y="2935224"/>
            <a:ext cx="4187952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6350">
            <a:solidFill>
              <a:srgbClr val="E2EAF4"/>
            </a:solidFill>
            <a:prstDash val="solid"/>
          </a:ln>
          <a:effectLst>
            <a:outerShdw blurRad="127000" dist="25400" dir="8100000" algn="bl" rotWithShape="0">
              <a:srgbClr val="1A2E4A">
                <a:alpha val="9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8083296" y="3072384"/>
            <a:ext cx="621792" cy="621792"/>
          </a:xfrm>
          <a:prstGeom prst="ellipse">
            <a:avLst/>
          </a:prstGeom>
          <a:solidFill>
            <a:srgbClr val="FAE8D4"/>
          </a:solidFill>
          <a:ln w="12700">
            <a:solidFill>
              <a:srgbClr val="FAE8D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083296" y="3090672"/>
            <a:ext cx="621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4828032" y="3136392"/>
            <a:ext cx="438912" cy="438912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28032" y="31363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394960" y="313639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450"/>
                </a:solidFill>
              </a:rPr>
              <a:t>Business Recommendations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828032" y="3575304"/>
            <a:ext cx="385876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</a:rPr>
              <a:t>Formulated 6 data-driven strategic initiatives prioritised by impact/effort to drive revenue growth, optimise product mix and expand markets.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8046720" y="4297680"/>
            <a:ext cx="822960" cy="822960"/>
          </a:xfrm>
          <a:prstGeom prst="ellipse">
            <a:avLst/>
          </a:prstGeom>
          <a:solidFill>
            <a:srgbClr val="D5E5F5"/>
          </a:solidFill>
          <a:ln w="12700">
            <a:solidFill>
              <a:srgbClr val="D5E5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" y="-64008"/>
            <a:ext cx="9144000" cy="658368"/>
          </a:xfrm>
          <a:prstGeom prst="rect">
            <a:avLst/>
          </a:prstGeom>
          <a:solidFill>
            <a:srgbClr val="1E3450"/>
          </a:solidFill>
          <a:ln w="12700">
            <a:solidFill>
              <a:srgbClr val="1E34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-12885" y="-64008"/>
            <a:ext cx="54864" cy="65836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54480" y="91440"/>
            <a:ext cx="7498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 Structure &amp; Feature Engineering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0" y="4919472"/>
            <a:ext cx="9144000" cy="201168"/>
          </a:xfrm>
          <a:prstGeom prst="rect">
            <a:avLst/>
          </a:prstGeom>
          <a:solidFill>
            <a:srgbClr val="DDE8F4"/>
          </a:solidFill>
          <a:ln w="12700">
            <a:solidFill>
              <a:srgbClr val="DDE8F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46304" y="4956048"/>
            <a:ext cx="118872" cy="118872"/>
          </a:xfrm>
          <a:prstGeom prst="ellipse">
            <a:avLst/>
          </a:prstGeom>
          <a:solidFill>
            <a:srgbClr val="1E3450"/>
          </a:solidFill>
          <a:ln w="12700">
            <a:solidFill>
              <a:srgbClr val="1E34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493776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E3450"/>
                </a:solidFill>
              </a:rPr>
              <a:t>DATA INSIGHTS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6492240" y="5001768"/>
            <a:ext cx="914400" cy="36576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4937760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</a:rPr>
              <a:t>Europe Bike Store  •  EDA Analysis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74320" y="896112"/>
            <a:ext cx="1389888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6350">
            <a:solidFill>
              <a:srgbClr val="E2EAF4"/>
            </a:solidFill>
            <a:prstDash val="solid"/>
          </a:ln>
          <a:effectLst>
            <a:outerShdw blurRad="127000" dist="25400" dir="8100000" algn="bl" rotWithShape="0">
              <a:srgbClr val="1A2E4A">
                <a:alpha val="9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74320" y="969264"/>
            <a:ext cx="1389888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34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113,036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74320" y="1463040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3450"/>
                </a:solidFill>
              </a:rPr>
              <a:t>Rows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74320" y="1655064"/>
            <a:ext cx="13898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07B39"/>
                </a:solidFill>
              </a:rPr>
              <a:t>Sales Records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1709928" y="896112"/>
            <a:ext cx="1389888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6350">
            <a:solidFill>
              <a:srgbClr val="E2EAF4"/>
            </a:solidFill>
            <a:prstDash val="solid"/>
          </a:ln>
          <a:effectLst>
            <a:outerShdw blurRad="127000" dist="25400" dir="8100000" algn="bl" rotWithShape="0">
              <a:srgbClr val="1A2E4A">
                <a:alpha val="9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709928" y="969264"/>
            <a:ext cx="1389888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34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709928" y="1463040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3450"/>
                </a:solidFill>
              </a:rPr>
              <a:t>Columns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709928" y="1655064"/>
            <a:ext cx="13898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07B39"/>
                </a:solidFill>
              </a:rPr>
              <a:t>Features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3145536" y="896112"/>
            <a:ext cx="1389888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6350">
            <a:solidFill>
              <a:srgbClr val="E2EAF4"/>
            </a:solidFill>
            <a:prstDash val="solid"/>
          </a:ln>
          <a:effectLst>
            <a:outerShdw blurRad="127000" dist="25400" dir="8100000" algn="bl" rotWithShape="0">
              <a:srgbClr val="1A2E4A">
                <a:alpha val="9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145536" y="969264"/>
            <a:ext cx="1389888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34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145536" y="1463040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3450"/>
                </a:solidFill>
              </a:rPr>
              <a:t>Years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145536" y="1655064"/>
            <a:ext cx="13898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07B39"/>
                </a:solidFill>
              </a:rPr>
              <a:t>2011–2016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4581144" y="896112"/>
            <a:ext cx="1389888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6350">
            <a:solidFill>
              <a:srgbClr val="E2EAF4"/>
            </a:solidFill>
            <a:prstDash val="solid"/>
          </a:ln>
          <a:effectLst>
            <a:outerShdw blurRad="127000" dist="25400" dir="8100000" algn="bl" rotWithShape="0">
              <a:srgbClr val="1A2E4A">
                <a:alpha val="9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581144" y="969264"/>
            <a:ext cx="1389888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34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4581144" y="1463040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3450"/>
                </a:solidFill>
              </a:rPr>
              <a:t>Countries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581144" y="1655064"/>
            <a:ext cx="13898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07B39"/>
                </a:solidFill>
              </a:rPr>
              <a:t>Global Mkts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6016752" y="896112"/>
            <a:ext cx="1389888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6350">
            <a:solidFill>
              <a:srgbClr val="E2EAF4"/>
            </a:solidFill>
            <a:prstDash val="solid"/>
          </a:ln>
          <a:effectLst>
            <a:outerShdw blurRad="127000" dist="25400" dir="8100000" algn="bl" rotWithShape="0">
              <a:srgbClr val="1A2E4A">
                <a:alpha val="9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016752" y="969264"/>
            <a:ext cx="1389888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34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6016752" y="1463040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3450"/>
                </a:solidFill>
              </a:rPr>
              <a:t>Categories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016752" y="1655064"/>
            <a:ext cx="13898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07B39"/>
                </a:solidFill>
              </a:rPr>
              <a:t>Product Types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7452360" y="896112"/>
            <a:ext cx="1389888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6350">
            <a:solidFill>
              <a:srgbClr val="E2EAF4"/>
            </a:solidFill>
            <a:prstDash val="solid"/>
          </a:ln>
          <a:effectLst>
            <a:outerShdw blurRad="127000" dist="25400" dir="8100000" algn="bl" rotWithShape="0">
              <a:srgbClr val="1A2E4A">
                <a:alpha val="9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7452360" y="969264"/>
            <a:ext cx="1389888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34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17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7452360" y="1463040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3450"/>
                </a:solidFill>
              </a:rPr>
              <a:t>Sub-Cats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452360" y="1655064"/>
            <a:ext cx="13898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07B39"/>
                </a:solidFill>
              </a:rPr>
              <a:t>Product Groups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274320" y="210312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450"/>
                </a:solidFill>
              </a:rPr>
              <a:t>Feature Engineering &amp; Data Enrichment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74320" y="2377440"/>
            <a:ext cx="8595360" cy="36576"/>
          </a:xfrm>
          <a:prstGeom prst="rect">
            <a:avLst/>
          </a:prstGeom>
          <a:solidFill>
            <a:srgbClr val="E2EAF4"/>
          </a:solidFill>
          <a:ln w="12700">
            <a:solidFill>
              <a:srgbClr val="E2EAF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74320" y="2505456"/>
            <a:ext cx="4187952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6350">
            <a:solidFill>
              <a:srgbClr val="E2EAF4"/>
            </a:solidFill>
            <a:prstDash val="solid"/>
          </a:ln>
          <a:effectLst>
            <a:outerShdw blurRad="127000" dist="25400" dir="8100000" algn="bl" rotWithShape="0">
              <a:srgbClr val="1A2E4A">
                <a:alpha val="9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274320" y="2596896"/>
            <a:ext cx="54864" cy="512064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38912" y="259689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A9D8F"/>
                </a:solidFill>
              </a:rPr>
              <a:t>Profit_Margin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1975104" y="2596896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2C4A6E"/>
                </a:solidFill>
              </a:rPr>
              <a:t>(Profit / Revenue) × 100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38912" y="2889504"/>
            <a:ext cx="3913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Profitability % per transaction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663440" y="2505456"/>
            <a:ext cx="4187952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6350">
            <a:solidFill>
              <a:srgbClr val="E2EAF4"/>
            </a:solidFill>
            <a:prstDash val="solid"/>
          </a:ln>
          <a:effectLst>
            <a:outerShdw blurRad="127000" dist="25400" dir="8100000" algn="bl" rotWithShape="0">
              <a:srgbClr val="1A2E4A">
                <a:alpha val="9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663440" y="2596896"/>
            <a:ext cx="54864" cy="512064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28032" y="259689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A9D8F"/>
                </a:solidFill>
              </a:rPr>
              <a:t>Month (ordered)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6364224" y="2596896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2C4A6E"/>
                </a:solidFill>
              </a:rPr>
              <a:t>Categorical ordering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4828032" y="2889504"/>
            <a:ext cx="3913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Ordered Jan→Dec for seasonality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274320" y="3328416"/>
            <a:ext cx="4187952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6350">
            <a:solidFill>
              <a:srgbClr val="E2EAF4"/>
            </a:solidFill>
            <a:prstDash val="solid"/>
          </a:ln>
          <a:effectLst>
            <a:outerShdw blurRad="127000" dist="25400" dir="8100000" algn="bl" rotWithShape="0">
              <a:srgbClr val="1A2E4A">
                <a:alpha val="9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274320" y="3419856"/>
            <a:ext cx="54864" cy="512064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38912" y="341985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A9D8F"/>
                </a:solidFill>
              </a:rPr>
              <a:t>Revenue_M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1975104" y="3419856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2C4A6E"/>
                </a:solidFill>
              </a:rPr>
              <a:t>Revenue / 1,000,000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438912" y="3712464"/>
            <a:ext cx="3913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Scaled in millions for charting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4663440" y="3328416"/>
            <a:ext cx="4187952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6350">
            <a:solidFill>
              <a:srgbClr val="E2EAF4"/>
            </a:solidFill>
            <a:prstDash val="solid"/>
          </a:ln>
          <a:effectLst>
            <a:outerShdw blurRad="127000" dist="25400" dir="8100000" algn="bl" rotWithShape="0">
              <a:srgbClr val="1A2E4A">
                <a:alpha val="9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4663440" y="3419856"/>
            <a:ext cx="54864" cy="512064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828032" y="341985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A9D8F"/>
                </a:solidFill>
              </a:rPr>
              <a:t>Age_Group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6364224" y="3419856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2C4A6E"/>
                </a:solidFill>
              </a:rPr>
              <a:t>Predefined buckets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4828032" y="3712464"/>
            <a:ext cx="3913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Youth / Young Adults / Adults / Seniors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274320" y="4151376"/>
            <a:ext cx="4187952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6350">
            <a:solidFill>
              <a:srgbClr val="E2EAF4"/>
            </a:solidFill>
            <a:prstDash val="solid"/>
          </a:ln>
          <a:effectLst>
            <a:outerShdw blurRad="127000" dist="25400" dir="8100000" algn="bl" rotWithShape="0">
              <a:srgbClr val="1A2E4A">
                <a:alpha val="9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274320" y="4242816"/>
            <a:ext cx="54864" cy="512064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38912" y="424281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A9D8F"/>
                </a:solidFill>
              </a:rPr>
              <a:t>Quarter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1975104" y="4242816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2C4A6E"/>
                </a:solidFill>
              </a:rPr>
              <a:t>dt.quarter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438912" y="4535424"/>
            <a:ext cx="3913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Q1–Q4 quarterly performance review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4663440" y="4151376"/>
            <a:ext cx="4187952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6350">
            <a:solidFill>
              <a:srgbClr val="E2EAF4"/>
            </a:solidFill>
            <a:prstDash val="solid"/>
          </a:ln>
          <a:effectLst>
            <a:outerShdw blurRad="127000" dist="25400" dir="8100000" algn="bl" rotWithShape="0">
              <a:srgbClr val="1A2E4A">
                <a:alpha val="9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4663440" y="4242816"/>
            <a:ext cx="54864" cy="512064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828032" y="424281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A9D8F"/>
                </a:solidFill>
              </a:rPr>
              <a:t>DayOfWeek</a:t>
            </a:r>
            <a:endParaRPr lang="en-US" sz="950" dirty="0"/>
          </a:p>
        </p:txBody>
      </p:sp>
      <p:sp>
        <p:nvSpPr>
          <p:cNvPr id="71" name="Text 69"/>
          <p:cNvSpPr/>
          <p:nvPr/>
        </p:nvSpPr>
        <p:spPr>
          <a:xfrm>
            <a:off x="6364224" y="4242816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2C4A6E"/>
                </a:solidFill>
              </a:rPr>
              <a:t>dt.day_name()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4828032" y="4535424"/>
            <a:ext cx="3913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Weekday analysis for sales patterns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8046720" y="4297680"/>
            <a:ext cx="822960" cy="822960"/>
          </a:xfrm>
          <a:prstGeom prst="ellipse">
            <a:avLst/>
          </a:prstGeom>
          <a:solidFill>
            <a:srgbClr val="D5E5F5"/>
          </a:solidFill>
          <a:ln w="12700">
            <a:solidFill>
              <a:srgbClr val="D5E5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450"/>
          </a:solidFill>
          <a:ln w="12700">
            <a:solidFill>
              <a:srgbClr val="1E34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54480" y="91440"/>
            <a:ext cx="7498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Revenue KPIs at a Glance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0" y="4919472"/>
            <a:ext cx="9144000" cy="201168"/>
          </a:xfrm>
          <a:prstGeom prst="rect">
            <a:avLst/>
          </a:prstGeom>
          <a:solidFill>
            <a:srgbClr val="DDE8F4"/>
          </a:solidFill>
          <a:ln w="12700">
            <a:solidFill>
              <a:srgbClr val="DDE8F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46304" y="4956048"/>
            <a:ext cx="118872" cy="118872"/>
          </a:xfrm>
          <a:prstGeom prst="ellipse">
            <a:avLst/>
          </a:prstGeom>
          <a:solidFill>
            <a:srgbClr val="1E3450"/>
          </a:solidFill>
          <a:ln w="12700">
            <a:solidFill>
              <a:srgbClr val="1E34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493776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E3450"/>
                </a:solidFill>
              </a:rPr>
              <a:t>DATA INSIGHTS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6492240" y="5001768"/>
            <a:ext cx="914400" cy="36576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4937760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</a:rPr>
              <a:t>Europe Bike Store  •  EDA Analysis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74320" y="896112"/>
            <a:ext cx="2084832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6350">
            <a:solidFill>
              <a:srgbClr val="E2EAF4"/>
            </a:solidFill>
            <a:prstDash val="solid"/>
          </a:ln>
          <a:effectLst>
            <a:outerShdw blurRad="127000" dist="25400" dir="8100000" algn="bl" rotWithShape="0">
              <a:srgbClr val="1A2E4A">
                <a:alpha val="9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591056" y="1014984"/>
            <a:ext cx="566928" cy="566928"/>
          </a:xfrm>
          <a:prstGeom prst="ellipse">
            <a:avLst/>
          </a:prstGeom>
          <a:solidFill>
            <a:srgbClr val="FAE8D4"/>
          </a:solidFill>
          <a:ln w="12700">
            <a:solidFill>
              <a:srgbClr val="FAE8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591056" y="1033272"/>
            <a:ext cx="5669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00000"/>
                </a:solidFill>
              </a:rPr>
              <a:t>💰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02336" y="1024128"/>
            <a:ext cx="1170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E34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$84.8M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02336" y="1499616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3450"/>
                </a:solidFill>
              </a:rPr>
              <a:t>Total Revenue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02336" y="1719072"/>
            <a:ext cx="1828800" cy="27432"/>
          </a:xfrm>
          <a:prstGeom prst="rect">
            <a:avLst/>
          </a:prstGeom>
          <a:solidFill>
            <a:srgbClr val="E2EAF4"/>
          </a:solidFill>
          <a:ln w="12700">
            <a:solidFill>
              <a:srgbClr val="E2EA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2336" y="1792224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6 yrs  ·  2011–2016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74320" y="1956816"/>
            <a:ext cx="2084832" cy="201168"/>
          </a:xfrm>
          <a:prstGeom prst="rect">
            <a:avLst/>
          </a:prstGeom>
          <a:solidFill>
            <a:srgbClr val="F0F5FB"/>
          </a:solidFill>
          <a:ln w="12700">
            <a:solidFill>
              <a:srgbClr val="E2EAF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1956816"/>
            <a:ext cx="875629" cy="201168"/>
          </a:xfrm>
          <a:prstGeom prst="rect">
            <a:avLst/>
          </a:prstGeom>
          <a:solidFill>
            <a:srgbClr val="FAE8D4"/>
          </a:solidFill>
          <a:ln w="12700">
            <a:solidFill>
              <a:srgbClr val="FAE8D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2112264"/>
            <a:ext cx="2084832" cy="4572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414016" y="896112"/>
            <a:ext cx="2084832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6350">
            <a:solidFill>
              <a:srgbClr val="E2EAF4"/>
            </a:solidFill>
            <a:prstDash val="solid"/>
          </a:ln>
          <a:effectLst>
            <a:outerShdw blurRad="127000" dist="25400" dir="8100000" algn="bl" rotWithShape="0">
              <a:srgbClr val="1A2E4A">
                <a:alpha val="9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730752" y="1014984"/>
            <a:ext cx="566928" cy="566928"/>
          </a:xfrm>
          <a:prstGeom prst="ellipse">
            <a:avLst/>
          </a:prstGeom>
          <a:solidFill>
            <a:srgbClr val="FAE8D4"/>
          </a:solidFill>
          <a:ln w="12700">
            <a:solidFill>
              <a:srgbClr val="FAE8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30752" y="1033272"/>
            <a:ext cx="5669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00000"/>
                </a:solidFill>
              </a:rPr>
              <a:t>📋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2542032" y="1024128"/>
            <a:ext cx="1170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E34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113,036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2542032" y="1499616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3450"/>
                </a:solidFill>
              </a:rPr>
              <a:t>Total Orders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542032" y="1719072"/>
            <a:ext cx="1828800" cy="27432"/>
          </a:xfrm>
          <a:prstGeom prst="rect">
            <a:avLst/>
          </a:prstGeom>
          <a:solidFill>
            <a:srgbClr val="E2EAF4"/>
          </a:solidFill>
          <a:ln w="12700">
            <a:solidFill>
              <a:srgbClr val="E2EAF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542032" y="1792224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Avg 18,839 / year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414016" y="1956816"/>
            <a:ext cx="2084832" cy="201168"/>
          </a:xfrm>
          <a:prstGeom prst="rect">
            <a:avLst/>
          </a:prstGeom>
          <a:solidFill>
            <a:srgbClr val="F0F5FB"/>
          </a:solidFill>
          <a:ln w="12700">
            <a:solidFill>
              <a:srgbClr val="E2EAF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414016" y="1956816"/>
            <a:ext cx="875629" cy="201168"/>
          </a:xfrm>
          <a:prstGeom prst="rect">
            <a:avLst/>
          </a:prstGeom>
          <a:solidFill>
            <a:srgbClr val="FAE8D4"/>
          </a:solidFill>
          <a:ln w="12700">
            <a:solidFill>
              <a:srgbClr val="FAE8D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414016" y="2112264"/>
            <a:ext cx="2084832" cy="4572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53712" y="896112"/>
            <a:ext cx="2084832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6350">
            <a:solidFill>
              <a:srgbClr val="E2EAF4"/>
            </a:solidFill>
            <a:prstDash val="solid"/>
          </a:ln>
          <a:effectLst>
            <a:outerShdw blurRad="127000" dist="25400" dir="8100000" algn="bl" rotWithShape="0">
              <a:srgbClr val="1A2E4A">
                <a:alpha val="9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870448" y="1014984"/>
            <a:ext cx="566928" cy="566928"/>
          </a:xfrm>
          <a:prstGeom prst="ellipse">
            <a:avLst/>
          </a:prstGeom>
          <a:solidFill>
            <a:srgbClr val="FAE8D4"/>
          </a:solidFill>
          <a:ln w="12700">
            <a:solidFill>
              <a:srgbClr val="FAE8D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870448" y="1033272"/>
            <a:ext cx="5669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00000"/>
                </a:solidFill>
              </a:rPr>
              <a:t>📊</a:t>
            </a:r>
            <a:endParaRPr lang="en-US" sz="1700" dirty="0"/>
          </a:p>
        </p:txBody>
      </p:sp>
      <p:sp>
        <p:nvSpPr>
          <p:cNvPr id="40" name="Text 38"/>
          <p:cNvSpPr/>
          <p:nvPr/>
        </p:nvSpPr>
        <p:spPr>
          <a:xfrm>
            <a:off x="4681728" y="1024128"/>
            <a:ext cx="1170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E34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$754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4681728" y="1499616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3450"/>
                </a:solidFill>
              </a:rPr>
              <a:t>Avg Order Value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681728" y="1719072"/>
            <a:ext cx="1828800" cy="27432"/>
          </a:xfrm>
          <a:prstGeom prst="rect">
            <a:avLst/>
          </a:prstGeom>
          <a:solidFill>
            <a:srgbClr val="E2EAF4"/>
          </a:solidFill>
          <a:ln w="12700">
            <a:solidFill>
              <a:srgbClr val="E2EAF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81728" y="1792224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Median: $223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553712" y="1956816"/>
            <a:ext cx="2084832" cy="201168"/>
          </a:xfrm>
          <a:prstGeom prst="rect">
            <a:avLst/>
          </a:prstGeom>
          <a:solidFill>
            <a:srgbClr val="F0F5FB"/>
          </a:solidFill>
          <a:ln w="12700">
            <a:solidFill>
              <a:srgbClr val="E2EAF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553712" y="1956816"/>
            <a:ext cx="875629" cy="201168"/>
          </a:xfrm>
          <a:prstGeom prst="rect">
            <a:avLst/>
          </a:prstGeom>
          <a:solidFill>
            <a:srgbClr val="FAE8D4"/>
          </a:solidFill>
          <a:ln w="12700">
            <a:solidFill>
              <a:srgbClr val="FAE8D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553712" y="2112264"/>
            <a:ext cx="2084832" cy="4572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693408" y="896112"/>
            <a:ext cx="2084832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6350">
            <a:solidFill>
              <a:srgbClr val="E2EAF4"/>
            </a:solidFill>
            <a:prstDash val="solid"/>
          </a:ln>
          <a:effectLst>
            <a:outerShdw blurRad="127000" dist="25400" dir="8100000" algn="bl" rotWithShape="0">
              <a:srgbClr val="1A2E4A">
                <a:alpha val="9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8010144" y="1014984"/>
            <a:ext cx="566928" cy="566928"/>
          </a:xfrm>
          <a:prstGeom prst="ellipse">
            <a:avLst/>
          </a:prstGeom>
          <a:solidFill>
            <a:srgbClr val="FAE8D4"/>
          </a:solidFill>
          <a:ln w="12700">
            <a:solidFill>
              <a:srgbClr val="FAE8D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010144" y="1033272"/>
            <a:ext cx="5669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00000"/>
                </a:solidFill>
              </a:rPr>
              <a:t>🏆</a:t>
            </a:r>
            <a:endParaRPr lang="en-US" sz="1700" dirty="0"/>
          </a:p>
        </p:txBody>
      </p:sp>
      <p:sp>
        <p:nvSpPr>
          <p:cNvPr id="50" name="Text 48"/>
          <p:cNvSpPr/>
          <p:nvPr/>
        </p:nvSpPr>
        <p:spPr>
          <a:xfrm>
            <a:off x="6821424" y="1024128"/>
            <a:ext cx="1170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E34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$19.9M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821424" y="1499616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3450"/>
                </a:solidFill>
              </a:rPr>
              <a:t>Peak Year Revenue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821424" y="1719072"/>
            <a:ext cx="1828800" cy="27432"/>
          </a:xfrm>
          <a:prstGeom prst="rect">
            <a:avLst/>
          </a:prstGeom>
          <a:solidFill>
            <a:srgbClr val="E2EAF4"/>
          </a:solidFill>
          <a:ln w="12700">
            <a:solidFill>
              <a:srgbClr val="E2EAF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821424" y="1792224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Best: 2015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6693408" y="1956816"/>
            <a:ext cx="2084832" cy="201168"/>
          </a:xfrm>
          <a:prstGeom prst="rect">
            <a:avLst/>
          </a:prstGeom>
          <a:solidFill>
            <a:srgbClr val="F0F5FB"/>
          </a:solidFill>
          <a:ln w="12700">
            <a:solidFill>
              <a:srgbClr val="E2EAF4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693408" y="1956816"/>
            <a:ext cx="875629" cy="201168"/>
          </a:xfrm>
          <a:prstGeom prst="rect">
            <a:avLst/>
          </a:prstGeom>
          <a:solidFill>
            <a:srgbClr val="FAE8D4"/>
          </a:solidFill>
          <a:ln w="12700">
            <a:solidFill>
              <a:srgbClr val="FAE8D4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693408" y="2112264"/>
            <a:ext cx="2084832" cy="4572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74320" y="2304288"/>
            <a:ext cx="2084832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6350">
            <a:solidFill>
              <a:srgbClr val="E2EAF4"/>
            </a:solidFill>
            <a:prstDash val="solid"/>
          </a:ln>
          <a:effectLst>
            <a:outerShdw blurRad="127000" dist="25400" dir="8100000" algn="bl" rotWithShape="0">
              <a:srgbClr val="1A2E4A">
                <a:alpha val="9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1591056" y="2423160"/>
            <a:ext cx="566928" cy="566928"/>
          </a:xfrm>
          <a:prstGeom prst="ellipse">
            <a:avLst/>
          </a:prstGeom>
          <a:solidFill>
            <a:srgbClr val="FAE8D4"/>
          </a:solidFill>
          <a:ln w="12700">
            <a:solidFill>
              <a:srgbClr val="FAE8D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591056" y="2441448"/>
            <a:ext cx="5669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00000"/>
                </a:solidFill>
              </a:rPr>
              <a:t>👥</a:t>
            </a:r>
            <a:endParaRPr lang="en-US" sz="1700" dirty="0"/>
          </a:p>
        </p:txBody>
      </p:sp>
      <p:sp>
        <p:nvSpPr>
          <p:cNvPr id="60" name="Text 58"/>
          <p:cNvSpPr/>
          <p:nvPr/>
        </p:nvSpPr>
        <p:spPr>
          <a:xfrm>
            <a:off x="402336" y="2432304"/>
            <a:ext cx="1170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E34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402336" y="2907792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3450"/>
                </a:solidFill>
              </a:rPr>
              <a:t>Age Segments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02336" y="3127248"/>
            <a:ext cx="1828800" cy="27432"/>
          </a:xfrm>
          <a:prstGeom prst="rect">
            <a:avLst/>
          </a:prstGeom>
          <a:solidFill>
            <a:srgbClr val="E2EAF4"/>
          </a:solidFill>
          <a:ln w="12700">
            <a:solidFill>
              <a:srgbClr val="E2EAF4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02336" y="3200400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Youth → Seniors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274320" y="3364992"/>
            <a:ext cx="2084832" cy="201168"/>
          </a:xfrm>
          <a:prstGeom prst="rect">
            <a:avLst/>
          </a:prstGeom>
          <a:solidFill>
            <a:srgbClr val="F0F5FB"/>
          </a:solidFill>
          <a:ln w="12700">
            <a:solidFill>
              <a:srgbClr val="E2EAF4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74320" y="3364992"/>
            <a:ext cx="875629" cy="201168"/>
          </a:xfrm>
          <a:prstGeom prst="rect">
            <a:avLst/>
          </a:prstGeom>
          <a:solidFill>
            <a:srgbClr val="FAE8D4"/>
          </a:solidFill>
          <a:ln w="12700">
            <a:solidFill>
              <a:srgbClr val="FAE8D4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74320" y="3520440"/>
            <a:ext cx="2084832" cy="4572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414016" y="2304288"/>
            <a:ext cx="2084832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6350">
            <a:solidFill>
              <a:srgbClr val="E2EAF4"/>
            </a:solidFill>
            <a:prstDash val="solid"/>
          </a:ln>
          <a:effectLst>
            <a:outerShdw blurRad="127000" dist="25400" dir="8100000" algn="bl" rotWithShape="0">
              <a:srgbClr val="1A2E4A">
                <a:alpha val="9000"/>
              </a:srgbClr>
            </a:outerShdw>
          </a:effectLst>
        </p:spPr>
      </p:sp>
      <p:sp>
        <p:nvSpPr>
          <p:cNvPr id="68" name="Shape 66"/>
          <p:cNvSpPr/>
          <p:nvPr/>
        </p:nvSpPr>
        <p:spPr>
          <a:xfrm>
            <a:off x="3730752" y="2423160"/>
            <a:ext cx="566928" cy="566928"/>
          </a:xfrm>
          <a:prstGeom prst="ellipse">
            <a:avLst/>
          </a:prstGeom>
          <a:solidFill>
            <a:srgbClr val="FAE8D4"/>
          </a:solidFill>
          <a:ln w="12700">
            <a:solidFill>
              <a:srgbClr val="FAE8D4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730752" y="2441448"/>
            <a:ext cx="5669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00000"/>
                </a:solidFill>
              </a:rPr>
              <a:t>🌍</a:t>
            </a:r>
            <a:endParaRPr lang="en-US" sz="1700" dirty="0"/>
          </a:p>
        </p:txBody>
      </p:sp>
      <p:sp>
        <p:nvSpPr>
          <p:cNvPr id="70" name="Text 68"/>
          <p:cNvSpPr/>
          <p:nvPr/>
        </p:nvSpPr>
        <p:spPr>
          <a:xfrm>
            <a:off x="2542032" y="2432304"/>
            <a:ext cx="1170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E34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2542032" y="2907792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3450"/>
                </a:solidFill>
              </a:rPr>
              <a:t>Countries Served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2542032" y="3127248"/>
            <a:ext cx="1828800" cy="27432"/>
          </a:xfrm>
          <a:prstGeom prst="rect">
            <a:avLst/>
          </a:prstGeom>
          <a:solidFill>
            <a:srgbClr val="E2EAF4"/>
          </a:solidFill>
          <a:ln w="12700">
            <a:solidFill>
              <a:srgbClr val="E2EAF4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542032" y="3200400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Global Reach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2414016" y="3364992"/>
            <a:ext cx="2084832" cy="201168"/>
          </a:xfrm>
          <a:prstGeom prst="rect">
            <a:avLst/>
          </a:prstGeom>
          <a:solidFill>
            <a:srgbClr val="F0F5FB"/>
          </a:solidFill>
          <a:ln w="12700">
            <a:solidFill>
              <a:srgbClr val="E2EAF4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414016" y="3364992"/>
            <a:ext cx="875629" cy="201168"/>
          </a:xfrm>
          <a:prstGeom prst="rect">
            <a:avLst/>
          </a:prstGeom>
          <a:solidFill>
            <a:srgbClr val="FAE8D4"/>
          </a:solidFill>
          <a:ln w="12700">
            <a:solidFill>
              <a:srgbClr val="FAE8D4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414016" y="3520440"/>
            <a:ext cx="2084832" cy="4572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553712" y="2304288"/>
            <a:ext cx="2084832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6350">
            <a:solidFill>
              <a:srgbClr val="E2EAF4"/>
            </a:solidFill>
            <a:prstDash val="solid"/>
          </a:ln>
          <a:effectLst>
            <a:outerShdw blurRad="127000" dist="25400" dir="8100000" algn="bl" rotWithShape="0">
              <a:srgbClr val="1A2E4A">
                <a:alpha val="9000"/>
              </a:srgbClr>
            </a:outerShdw>
          </a:effectLst>
        </p:spPr>
      </p:sp>
      <p:sp>
        <p:nvSpPr>
          <p:cNvPr id="78" name="Shape 76"/>
          <p:cNvSpPr/>
          <p:nvPr/>
        </p:nvSpPr>
        <p:spPr>
          <a:xfrm>
            <a:off x="5870448" y="2423160"/>
            <a:ext cx="566928" cy="566928"/>
          </a:xfrm>
          <a:prstGeom prst="ellipse">
            <a:avLst/>
          </a:prstGeom>
          <a:solidFill>
            <a:srgbClr val="FAE8D4"/>
          </a:solidFill>
          <a:ln w="12700">
            <a:solidFill>
              <a:srgbClr val="FAE8D4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870448" y="2441448"/>
            <a:ext cx="5669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00000"/>
                </a:solidFill>
              </a:rPr>
              <a:t>🚴</a:t>
            </a:r>
            <a:endParaRPr lang="en-US" sz="1700" dirty="0"/>
          </a:p>
        </p:txBody>
      </p:sp>
      <p:sp>
        <p:nvSpPr>
          <p:cNvPr id="80" name="Text 78"/>
          <p:cNvSpPr/>
          <p:nvPr/>
        </p:nvSpPr>
        <p:spPr>
          <a:xfrm>
            <a:off x="4681728" y="2432304"/>
            <a:ext cx="1170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E34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72.4%</a:t>
            </a:r>
            <a:endParaRPr lang="en-US" sz="1600" dirty="0"/>
          </a:p>
        </p:txBody>
      </p:sp>
      <p:sp>
        <p:nvSpPr>
          <p:cNvPr id="81" name="Text 79"/>
          <p:cNvSpPr/>
          <p:nvPr/>
        </p:nvSpPr>
        <p:spPr>
          <a:xfrm>
            <a:off x="4681728" y="2907792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3450"/>
                </a:solidFill>
              </a:rPr>
              <a:t>Bikes Revenue Share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4681728" y="3127248"/>
            <a:ext cx="1828800" cy="27432"/>
          </a:xfrm>
          <a:prstGeom prst="rect">
            <a:avLst/>
          </a:prstGeom>
          <a:solidFill>
            <a:srgbClr val="E2EAF4"/>
          </a:solidFill>
          <a:ln w="12700">
            <a:solidFill>
              <a:srgbClr val="E2EAF4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681728" y="3200400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Primary Category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4553712" y="3364992"/>
            <a:ext cx="2084832" cy="201168"/>
          </a:xfrm>
          <a:prstGeom prst="rect">
            <a:avLst/>
          </a:prstGeom>
          <a:solidFill>
            <a:srgbClr val="F0F5FB"/>
          </a:solidFill>
          <a:ln w="12700">
            <a:solidFill>
              <a:srgbClr val="E2EAF4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4553712" y="3364992"/>
            <a:ext cx="875629" cy="201168"/>
          </a:xfrm>
          <a:prstGeom prst="rect">
            <a:avLst/>
          </a:prstGeom>
          <a:solidFill>
            <a:srgbClr val="FAE8D4"/>
          </a:solidFill>
          <a:ln w="12700">
            <a:solidFill>
              <a:srgbClr val="FAE8D4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4553712" y="3520440"/>
            <a:ext cx="2084832" cy="4572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6693408" y="2304288"/>
            <a:ext cx="2084832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6350">
            <a:solidFill>
              <a:srgbClr val="E2EAF4"/>
            </a:solidFill>
            <a:prstDash val="solid"/>
          </a:ln>
          <a:effectLst>
            <a:outerShdw blurRad="127000" dist="25400" dir="8100000" algn="bl" rotWithShape="0">
              <a:srgbClr val="1A2E4A">
                <a:alpha val="9000"/>
              </a:srgbClr>
            </a:outerShdw>
          </a:effectLst>
        </p:spPr>
      </p:sp>
      <p:sp>
        <p:nvSpPr>
          <p:cNvPr id="88" name="Shape 86"/>
          <p:cNvSpPr/>
          <p:nvPr/>
        </p:nvSpPr>
        <p:spPr>
          <a:xfrm>
            <a:off x="8010144" y="2423160"/>
            <a:ext cx="566928" cy="566928"/>
          </a:xfrm>
          <a:prstGeom prst="ellipse">
            <a:avLst/>
          </a:prstGeom>
          <a:solidFill>
            <a:srgbClr val="FAE8D4"/>
          </a:solidFill>
          <a:ln w="12700">
            <a:solidFill>
              <a:srgbClr val="FAE8D4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8010144" y="2441448"/>
            <a:ext cx="5669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00000"/>
                </a:solidFill>
              </a:rPr>
              <a:t>💎</a:t>
            </a:r>
            <a:endParaRPr lang="en-US" sz="1700" dirty="0"/>
          </a:p>
        </p:txBody>
      </p:sp>
      <p:sp>
        <p:nvSpPr>
          <p:cNvPr id="90" name="Text 88"/>
          <p:cNvSpPr/>
          <p:nvPr/>
        </p:nvSpPr>
        <p:spPr>
          <a:xfrm>
            <a:off x="6821424" y="2432304"/>
            <a:ext cx="1170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E34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54.8%</a:t>
            </a:r>
            <a:endParaRPr lang="en-US" sz="1600" dirty="0"/>
          </a:p>
        </p:txBody>
      </p:sp>
      <p:sp>
        <p:nvSpPr>
          <p:cNvPr id="91" name="Text 89"/>
          <p:cNvSpPr/>
          <p:nvPr/>
        </p:nvSpPr>
        <p:spPr>
          <a:xfrm>
            <a:off x="6821424" y="2907792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3450"/>
                </a:solidFill>
              </a:rPr>
              <a:t>Best Profit Margin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6821424" y="3127248"/>
            <a:ext cx="1828800" cy="27432"/>
          </a:xfrm>
          <a:prstGeom prst="rect">
            <a:avLst/>
          </a:prstGeom>
          <a:solidFill>
            <a:srgbClr val="E2EAF4"/>
          </a:solidFill>
          <a:ln w="12700">
            <a:solidFill>
              <a:srgbClr val="E2EAF4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6821424" y="3200400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Canada Market</a:t>
            </a:r>
            <a:endParaRPr lang="en-US" sz="850" dirty="0"/>
          </a:p>
        </p:txBody>
      </p:sp>
      <p:sp>
        <p:nvSpPr>
          <p:cNvPr id="94" name="Shape 92"/>
          <p:cNvSpPr/>
          <p:nvPr/>
        </p:nvSpPr>
        <p:spPr>
          <a:xfrm>
            <a:off x="6693408" y="3364992"/>
            <a:ext cx="2084832" cy="201168"/>
          </a:xfrm>
          <a:prstGeom prst="rect">
            <a:avLst/>
          </a:prstGeom>
          <a:solidFill>
            <a:srgbClr val="F0F5FB"/>
          </a:solidFill>
          <a:ln w="12700">
            <a:solidFill>
              <a:srgbClr val="E2EAF4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6693408" y="3364992"/>
            <a:ext cx="875629" cy="201168"/>
          </a:xfrm>
          <a:prstGeom prst="rect">
            <a:avLst/>
          </a:prstGeom>
          <a:solidFill>
            <a:srgbClr val="FAE8D4"/>
          </a:solidFill>
          <a:ln w="12700">
            <a:solidFill>
              <a:srgbClr val="FAE8D4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6693408" y="3520440"/>
            <a:ext cx="2084832" cy="4572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274320" y="3840480"/>
            <a:ext cx="8595360" cy="1005840"/>
          </a:xfrm>
          <a:prstGeom prst="roundRect">
            <a:avLst>
              <a:gd name="adj" fmla="val 9091"/>
            </a:avLst>
          </a:prstGeom>
          <a:solidFill>
            <a:srgbClr val="1E3450"/>
          </a:solidFill>
          <a:ln/>
          <a:effectLst>
            <a:outerShdw blurRad="127000" dist="25400" dir="8100000" algn="bl" rotWithShape="0">
              <a:srgbClr val="1A2E4A">
                <a:alpha val="9000"/>
              </a:srgbClr>
            </a:outerShdw>
          </a:effectLst>
        </p:spPr>
      </p:sp>
      <p:sp>
        <p:nvSpPr>
          <p:cNvPr id="98" name="Shape 96"/>
          <p:cNvSpPr/>
          <p:nvPr/>
        </p:nvSpPr>
        <p:spPr>
          <a:xfrm>
            <a:off x="274320" y="3840480"/>
            <a:ext cx="73152" cy="100584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457200" y="395020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📌  Executive Summary</a:t>
            </a:r>
            <a:endParaRPr lang="en-US" sz="1000" dirty="0"/>
          </a:p>
        </p:txBody>
      </p:sp>
      <p:sp>
        <p:nvSpPr>
          <p:cNvPr id="100" name="Text 98"/>
          <p:cNvSpPr/>
          <p:nvPr/>
        </p:nvSpPr>
        <p:spPr>
          <a:xfrm>
            <a:off x="457200" y="422452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4DE"/>
                </a:solidFill>
              </a:rPr>
              <a:t>Europe Bike Store generated $84.8M over 6 years (2011–2016), peaking at $19.9M in 2015 — 123% total growth. Bikes drive 72.4% of revenue ($61.4M), while Canada leads profit margins at 54.8%. Adults 35–64 account for 49.6% of all sales across all 6 countries.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8046720" y="4297680"/>
            <a:ext cx="822960" cy="822960"/>
          </a:xfrm>
          <a:prstGeom prst="ellipse">
            <a:avLst/>
          </a:prstGeom>
          <a:solidFill>
            <a:srgbClr val="D5E5F5"/>
          </a:solidFill>
          <a:ln w="12700">
            <a:solidFill>
              <a:srgbClr val="D5E5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450"/>
          </a:solidFill>
          <a:ln w="12700">
            <a:solidFill>
              <a:srgbClr val="1E34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54480" y="91440"/>
            <a:ext cx="7498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Revenue Analysis by Year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0" y="4919472"/>
            <a:ext cx="9144000" cy="201168"/>
          </a:xfrm>
          <a:prstGeom prst="rect">
            <a:avLst/>
          </a:prstGeom>
          <a:solidFill>
            <a:srgbClr val="DDE8F4"/>
          </a:solidFill>
          <a:ln w="12700">
            <a:solidFill>
              <a:srgbClr val="DDE8F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46304" y="4956048"/>
            <a:ext cx="118872" cy="118872"/>
          </a:xfrm>
          <a:prstGeom prst="ellipse">
            <a:avLst/>
          </a:prstGeom>
          <a:solidFill>
            <a:srgbClr val="1E3450"/>
          </a:solidFill>
          <a:ln w="12700">
            <a:solidFill>
              <a:srgbClr val="1E34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493776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E3450"/>
                </a:solidFill>
              </a:rPr>
              <a:t>DATA INSIGHTS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6492240" y="5001768"/>
            <a:ext cx="914400" cy="36576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4937760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</a:rPr>
              <a:t>Europe Bike Store  •  EDA Analysis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74320" y="877824"/>
            <a:ext cx="8595360" cy="2633472"/>
          </a:xfrm>
          <a:prstGeom prst="roundRect">
            <a:avLst>
              <a:gd name="adj" fmla="val 3472"/>
            </a:avLst>
          </a:prstGeom>
          <a:solidFill>
            <a:srgbClr val="FFFFFF"/>
          </a:solidFill>
          <a:ln w="6350">
            <a:solidFill>
              <a:srgbClr val="E2EAF4"/>
            </a:solidFill>
            <a:prstDash val="solid"/>
          </a:ln>
          <a:effectLst>
            <a:outerShdw blurRad="127000" dist="25400" dir="8100000" algn="bl" rotWithShape="0">
              <a:srgbClr val="1A2E4A">
                <a:alpha val="9000"/>
              </a:srgbClr>
            </a:outerShdw>
          </a:effectLst>
        </p:spPr>
      </p:sp>
      <p:graphicFrame>
        <p:nvGraphicFramePr>
          <p:cNvPr id="18" name="Chart 0"/>
          <p:cNvGraphicFramePr/>
          <p:nvPr/>
        </p:nvGraphicFramePr>
        <p:xfrm>
          <a:off x="347472" y="914400"/>
          <a:ext cx="8449056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9" name="Shape 16"/>
          <p:cNvSpPr/>
          <p:nvPr/>
        </p:nvSpPr>
        <p:spPr>
          <a:xfrm>
            <a:off x="274320" y="3657600"/>
            <a:ext cx="2779776" cy="1133856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6350">
            <a:solidFill>
              <a:srgbClr val="E2EAF4"/>
            </a:solidFill>
            <a:prstDash val="solid"/>
          </a:ln>
          <a:effectLst>
            <a:outerShdw blurRad="127000" dist="25400" dir="8100000" algn="bl" rotWithShape="0">
              <a:srgbClr val="1A2E4A">
                <a:alpha val="9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274320" y="3739896"/>
            <a:ext cx="54864" cy="969264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20624" y="375818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450"/>
                </a:solidFill>
              </a:rPr>
              <a:t>🏆  Peak Performance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20624" y="4050792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</a:rPr>
              <a:t>2015 reached $19.9M — the best year on record. Strong Q2 performance and consistent monthly sales drove this result.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182112" y="3657600"/>
            <a:ext cx="2779776" cy="1133856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6350">
            <a:solidFill>
              <a:srgbClr val="E2EAF4"/>
            </a:solidFill>
            <a:prstDash val="solid"/>
          </a:ln>
          <a:effectLst>
            <a:outerShdw blurRad="127000" dist="25400" dir="8100000" algn="bl" rotWithShape="0">
              <a:srgbClr val="1A2E4A">
                <a:alpha val="9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3182112" y="3739896"/>
            <a:ext cx="54864" cy="9692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328416" y="375818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450"/>
                </a:solidFill>
              </a:rPr>
              <a:t>📉  Revenue Decline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3328416" y="4050792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</a:rPr>
              <a:t>2014 dropped -7.1% to $14.0M. Mid-year retention gaps and variable basket sizes point to a need for targeted campaigns.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6089904" y="3657600"/>
            <a:ext cx="2779776" cy="1133856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6350">
            <a:solidFill>
              <a:srgbClr val="E2EAF4"/>
            </a:solidFill>
            <a:prstDash val="solid"/>
          </a:ln>
          <a:effectLst>
            <a:outerShdw blurRad="127000" dist="25400" dir="8100000" algn="bl" rotWithShape="0">
              <a:srgbClr val="1A2E4A">
                <a:alpha val="9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6089904" y="3739896"/>
            <a:ext cx="54864" cy="969264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236208" y="375818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450"/>
                </a:solidFill>
              </a:rPr>
              <a:t>📦  Growth Trajectory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6236208" y="4050792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</a:rPr>
              <a:t>Order volume grew consistently throughout the period. 2016 data ends July — full-year pace projected at $25M+.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8046720" y="4297680"/>
            <a:ext cx="822960" cy="822960"/>
          </a:xfrm>
          <a:prstGeom prst="ellipse">
            <a:avLst/>
          </a:prstGeom>
          <a:solidFill>
            <a:srgbClr val="D5E5F5"/>
          </a:solidFill>
          <a:ln w="12700">
            <a:solidFill>
              <a:srgbClr val="D5E5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450"/>
          </a:solidFill>
          <a:ln w="12700">
            <a:solidFill>
              <a:srgbClr val="1E34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54480" y="91440"/>
            <a:ext cx="7498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Revenue Trends — Month and Quarter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0" y="4919472"/>
            <a:ext cx="9144000" cy="201168"/>
          </a:xfrm>
          <a:prstGeom prst="rect">
            <a:avLst/>
          </a:prstGeom>
          <a:solidFill>
            <a:srgbClr val="DDE8F4"/>
          </a:solidFill>
          <a:ln w="12700">
            <a:solidFill>
              <a:srgbClr val="DDE8F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46304" y="4956048"/>
            <a:ext cx="118872" cy="118872"/>
          </a:xfrm>
          <a:prstGeom prst="ellipse">
            <a:avLst/>
          </a:prstGeom>
          <a:solidFill>
            <a:srgbClr val="1E3450"/>
          </a:solidFill>
          <a:ln w="12700">
            <a:solidFill>
              <a:srgbClr val="1E34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493776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E3450"/>
                </a:solidFill>
              </a:rPr>
              <a:t>DATA INSIGHTS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6492240" y="5001768"/>
            <a:ext cx="914400" cy="36576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4937760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</a:rPr>
              <a:t>Europe Bike Store  •  EDA Analysis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74320" y="877824"/>
            <a:ext cx="4937760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6350">
            <a:solidFill>
              <a:srgbClr val="E2EAF4"/>
            </a:solidFill>
            <a:prstDash val="solid"/>
          </a:ln>
          <a:effectLst>
            <a:outerShdw blurRad="127000" dist="25400" dir="8100000" algn="bl" rotWithShape="0">
              <a:srgbClr val="1A2E4A">
                <a:alpha val="9000"/>
              </a:srgbClr>
            </a:outerShdw>
          </a:effectLst>
        </p:spPr>
      </p:sp>
      <p:graphicFrame>
        <p:nvGraphicFramePr>
          <p:cNvPr id="18" name="Chart 0"/>
          <p:cNvGraphicFramePr/>
          <p:nvPr/>
        </p:nvGraphicFramePr>
        <p:xfrm>
          <a:off x="347472" y="914400"/>
          <a:ext cx="4791456" cy="27614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9" name="Shape 16"/>
          <p:cNvSpPr/>
          <p:nvPr/>
        </p:nvSpPr>
        <p:spPr>
          <a:xfrm>
            <a:off x="5376672" y="877824"/>
            <a:ext cx="3493008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6350">
            <a:solidFill>
              <a:srgbClr val="E2EAF4"/>
            </a:solidFill>
            <a:prstDash val="solid"/>
          </a:ln>
          <a:effectLst>
            <a:outerShdw blurRad="127000" dist="25400" dir="8100000" algn="bl" rotWithShape="0">
              <a:srgbClr val="1A2E4A">
                <a:alpha val="9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5504688" y="969264"/>
            <a:ext cx="33101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3450"/>
                </a:solidFill>
              </a:rPr>
              <a:t>Quarterly Performance ($M)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5504688" y="1280160"/>
            <a:ext cx="512064" cy="256032"/>
          </a:xfrm>
          <a:prstGeom prst="rect">
            <a:avLst/>
          </a:prstGeom>
          <a:solidFill>
            <a:srgbClr val="1E3450"/>
          </a:solidFill>
          <a:ln/>
        </p:spPr>
      </p:sp>
      <p:sp>
        <p:nvSpPr>
          <p:cNvPr id="22" name="Text 19"/>
          <p:cNvSpPr/>
          <p:nvPr/>
        </p:nvSpPr>
        <p:spPr>
          <a:xfrm>
            <a:off x="5504688" y="1280160"/>
            <a:ext cx="512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Year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6016752" y="1280160"/>
            <a:ext cx="694944" cy="256032"/>
          </a:xfrm>
          <a:prstGeom prst="rect">
            <a:avLst/>
          </a:prstGeom>
          <a:solidFill>
            <a:srgbClr val="1E3450"/>
          </a:solidFill>
          <a:ln/>
        </p:spPr>
      </p:sp>
      <p:sp>
        <p:nvSpPr>
          <p:cNvPr id="24" name="Text 21"/>
          <p:cNvSpPr/>
          <p:nvPr/>
        </p:nvSpPr>
        <p:spPr>
          <a:xfrm>
            <a:off x="6016752" y="1280160"/>
            <a:ext cx="694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Q1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6711696" y="1280160"/>
            <a:ext cx="694944" cy="256032"/>
          </a:xfrm>
          <a:prstGeom prst="rect">
            <a:avLst/>
          </a:prstGeom>
          <a:solidFill>
            <a:srgbClr val="1E3450"/>
          </a:solidFill>
          <a:ln/>
        </p:spPr>
      </p:sp>
      <p:sp>
        <p:nvSpPr>
          <p:cNvPr id="26" name="Text 23"/>
          <p:cNvSpPr/>
          <p:nvPr/>
        </p:nvSpPr>
        <p:spPr>
          <a:xfrm>
            <a:off x="6711696" y="1280160"/>
            <a:ext cx="694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Q2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7406640" y="1280160"/>
            <a:ext cx="694944" cy="256032"/>
          </a:xfrm>
          <a:prstGeom prst="rect">
            <a:avLst/>
          </a:prstGeom>
          <a:solidFill>
            <a:srgbClr val="1E3450"/>
          </a:solidFill>
          <a:ln/>
        </p:spPr>
      </p:sp>
      <p:sp>
        <p:nvSpPr>
          <p:cNvPr id="28" name="Text 25"/>
          <p:cNvSpPr/>
          <p:nvPr/>
        </p:nvSpPr>
        <p:spPr>
          <a:xfrm>
            <a:off x="7406640" y="1280160"/>
            <a:ext cx="694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Q3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8101584" y="1280160"/>
            <a:ext cx="694944" cy="256032"/>
          </a:xfrm>
          <a:prstGeom prst="rect">
            <a:avLst/>
          </a:prstGeom>
          <a:solidFill>
            <a:srgbClr val="1E3450"/>
          </a:solidFill>
          <a:ln/>
        </p:spPr>
      </p:sp>
      <p:sp>
        <p:nvSpPr>
          <p:cNvPr id="30" name="Text 27"/>
          <p:cNvSpPr/>
          <p:nvPr/>
        </p:nvSpPr>
        <p:spPr>
          <a:xfrm>
            <a:off x="8101584" y="1280160"/>
            <a:ext cx="694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Q4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5504688" y="1536192"/>
            <a:ext cx="512064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29"/>
          <p:cNvSpPr/>
          <p:nvPr/>
        </p:nvSpPr>
        <p:spPr>
          <a:xfrm>
            <a:off x="5504688" y="1536192"/>
            <a:ext cx="512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3450"/>
                </a:solidFill>
              </a:rPr>
              <a:t>2013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6016752" y="1536192"/>
            <a:ext cx="694944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1"/>
          <p:cNvSpPr/>
          <p:nvPr/>
        </p:nvSpPr>
        <p:spPr>
          <a:xfrm>
            <a:off x="6016752" y="1536192"/>
            <a:ext cx="694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3450"/>
                </a:solidFill>
              </a:rPr>
              <a:t>1.4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6711696" y="1536192"/>
            <a:ext cx="694944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3"/>
          <p:cNvSpPr/>
          <p:nvPr/>
        </p:nvSpPr>
        <p:spPr>
          <a:xfrm>
            <a:off x="6711696" y="1536192"/>
            <a:ext cx="694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3450"/>
                </a:solidFill>
              </a:rPr>
              <a:t>1.6</a:t>
            </a:r>
            <a:endParaRPr lang="en-US" sz="800" dirty="0"/>
          </a:p>
        </p:txBody>
      </p:sp>
      <p:sp>
        <p:nvSpPr>
          <p:cNvPr id="37" name="Shape 34"/>
          <p:cNvSpPr/>
          <p:nvPr/>
        </p:nvSpPr>
        <p:spPr>
          <a:xfrm>
            <a:off x="7406640" y="1536192"/>
            <a:ext cx="694944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5"/>
          <p:cNvSpPr/>
          <p:nvPr/>
        </p:nvSpPr>
        <p:spPr>
          <a:xfrm>
            <a:off x="7406640" y="1536192"/>
            <a:ext cx="694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3450"/>
                </a:solidFill>
              </a:rPr>
              <a:t>5.0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8101584" y="1536192"/>
            <a:ext cx="694944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Text 37"/>
          <p:cNvSpPr/>
          <p:nvPr/>
        </p:nvSpPr>
        <p:spPr>
          <a:xfrm>
            <a:off x="8101584" y="1536192"/>
            <a:ext cx="694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07B39"/>
                </a:solidFill>
              </a:rPr>
              <a:t>7.2</a:t>
            </a:r>
            <a:endParaRPr lang="en-US" sz="800" dirty="0"/>
          </a:p>
        </p:txBody>
      </p:sp>
      <p:sp>
        <p:nvSpPr>
          <p:cNvPr id="41" name="Shape 38"/>
          <p:cNvSpPr/>
          <p:nvPr/>
        </p:nvSpPr>
        <p:spPr>
          <a:xfrm>
            <a:off x="5504688" y="1883664"/>
            <a:ext cx="512064" cy="347472"/>
          </a:xfrm>
          <a:prstGeom prst="rect">
            <a:avLst/>
          </a:prstGeom>
          <a:solidFill>
            <a:srgbClr val="EFF5FC"/>
          </a:solidFill>
          <a:ln/>
        </p:spPr>
      </p:sp>
      <p:sp>
        <p:nvSpPr>
          <p:cNvPr id="42" name="Text 39"/>
          <p:cNvSpPr/>
          <p:nvPr/>
        </p:nvSpPr>
        <p:spPr>
          <a:xfrm>
            <a:off x="5504688" y="1883664"/>
            <a:ext cx="512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3450"/>
                </a:solidFill>
              </a:rPr>
              <a:t>2014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6016752" y="1883664"/>
            <a:ext cx="694944" cy="347472"/>
          </a:xfrm>
          <a:prstGeom prst="rect">
            <a:avLst/>
          </a:prstGeom>
          <a:solidFill>
            <a:srgbClr val="EFF5FC"/>
          </a:solidFill>
          <a:ln/>
        </p:spPr>
      </p:sp>
      <p:sp>
        <p:nvSpPr>
          <p:cNvPr id="44" name="Text 41"/>
          <p:cNvSpPr/>
          <p:nvPr/>
        </p:nvSpPr>
        <p:spPr>
          <a:xfrm>
            <a:off x="6016752" y="1883664"/>
            <a:ext cx="694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3450"/>
                </a:solidFill>
              </a:rPr>
              <a:t>6.0</a:t>
            </a:r>
            <a:endParaRPr lang="en-US" sz="800" dirty="0"/>
          </a:p>
        </p:txBody>
      </p:sp>
      <p:sp>
        <p:nvSpPr>
          <p:cNvPr id="45" name="Shape 42"/>
          <p:cNvSpPr/>
          <p:nvPr/>
        </p:nvSpPr>
        <p:spPr>
          <a:xfrm>
            <a:off x="6711696" y="1883664"/>
            <a:ext cx="694944" cy="347472"/>
          </a:xfrm>
          <a:prstGeom prst="rect">
            <a:avLst/>
          </a:prstGeom>
          <a:solidFill>
            <a:srgbClr val="EFF5FC"/>
          </a:solidFill>
          <a:ln/>
        </p:spPr>
      </p:sp>
      <p:sp>
        <p:nvSpPr>
          <p:cNvPr id="46" name="Text 43"/>
          <p:cNvSpPr/>
          <p:nvPr/>
        </p:nvSpPr>
        <p:spPr>
          <a:xfrm>
            <a:off x="6711696" y="1883664"/>
            <a:ext cx="694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07B39"/>
                </a:solidFill>
              </a:rPr>
              <a:t>7.5</a:t>
            </a:r>
            <a:endParaRPr lang="en-US" sz="800" dirty="0"/>
          </a:p>
        </p:txBody>
      </p:sp>
      <p:sp>
        <p:nvSpPr>
          <p:cNvPr id="47" name="Shape 44"/>
          <p:cNvSpPr/>
          <p:nvPr/>
        </p:nvSpPr>
        <p:spPr>
          <a:xfrm>
            <a:off x="7406640" y="1883664"/>
            <a:ext cx="694944" cy="347472"/>
          </a:xfrm>
          <a:prstGeom prst="rect">
            <a:avLst/>
          </a:prstGeom>
          <a:solidFill>
            <a:srgbClr val="EFF5FC"/>
          </a:solidFill>
          <a:ln/>
        </p:spPr>
      </p:sp>
      <p:sp>
        <p:nvSpPr>
          <p:cNvPr id="48" name="Text 45"/>
          <p:cNvSpPr/>
          <p:nvPr/>
        </p:nvSpPr>
        <p:spPr>
          <a:xfrm>
            <a:off x="7406640" y="1883664"/>
            <a:ext cx="694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3450"/>
                </a:solidFill>
              </a:rPr>
              <a:t>0.5</a:t>
            </a:r>
            <a:endParaRPr lang="en-US" sz="800" dirty="0"/>
          </a:p>
        </p:txBody>
      </p:sp>
      <p:sp>
        <p:nvSpPr>
          <p:cNvPr id="49" name="Shape 46"/>
          <p:cNvSpPr/>
          <p:nvPr/>
        </p:nvSpPr>
        <p:spPr>
          <a:xfrm>
            <a:off x="8101584" y="1883664"/>
            <a:ext cx="694944" cy="347472"/>
          </a:xfrm>
          <a:prstGeom prst="rect">
            <a:avLst/>
          </a:prstGeom>
          <a:solidFill>
            <a:srgbClr val="EFF5FC"/>
          </a:solidFill>
          <a:ln/>
        </p:spPr>
      </p:sp>
      <p:sp>
        <p:nvSpPr>
          <p:cNvPr id="50" name="Text 47"/>
          <p:cNvSpPr/>
          <p:nvPr/>
        </p:nvSpPr>
        <p:spPr>
          <a:xfrm>
            <a:off x="8101584" y="1883664"/>
            <a:ext cx="694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3450"/>
                </a:solidFill>
              </a:rPr>
              <a:t>—</a:t>
            </a:r>
            <a:endParaRPr lang="en-US" sz="800" dirty="0"/>
          </a:p>
        </p:txBody>
      </p:sp>
      <p:sp>
        <p:nvSpPr>
          <p:cNvPr id="51" name="Shape 48"/>
          <p:cNvSpPr/>
          <p:nvPr/>
        </p:nvSpPr>
        <p:spPr>
          <a:xfrm>
            <a:off x="5504688" y="2231136"/>
            <a:ext cx="512064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2" name="Text 49"/>
          <p:cNvSpPr/>
          <p:nvPr/>
        </p:nvSpPr>
        <p:spPr>
          <a:xfrm>
            <a:off x="5504688" y="2231136"/>
            <a:ext cx="512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3450"/>
                </a:solidFill>
              </a:rPr>
              <a:t>2015</a:t>
            </a:r>
            <a:endParaRPr lang="en-US" sz="800" dirty="0"/>
          </a:p>
        </p:txBody>
      </p:sp>
      <p:sp>
        <p:nvSpPr>
          <p:cNvPr id="53" name="Shape 50"/>
          <p:cNvSpPr/>
          <p:nvPr/>
        </p:nvSpPr>
        <p:spPr>
          <a:xfrm>
            <a:off x="6016752" y="2231136"/>
            <a:ext cx="694944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4" name="Text 51"/>
          <p:cNvSpPr/>
          <p:nvPr/>
        </p:nvSpPr>
        <p:spPr>
          <a:xfrm>
            <a:off x="6016752" y="2231136"/>
            <a:ext cx="694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3450"/>
                </a:solidFill>
              </a:rPr>
              <a:t>2.1</a:t>
            </a:r>
            <a:endParaRPr lang="en-US" sz="800" dirty="0"/>
          </a:p>
        </p:txBody>
      </p:sp>
      <p:sp>
        <p:nvSpPr>
          <p:cNvPr id="55" name="Shape 52"/>
          <p:cNvSpPr/>
          <p:nvPr/>
        </p:nvSpPr>
        <p:spPr>
          <a:xfrm>
            <a:off x="6711696" y="2231136"/>
            <a:ext cx="694944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6" name="Text 53"/>
          <p:cNvSpPr/>
          <p:nvPr/>
        </p:nvSpPr>
        <p:spPr>
          <a:xfrm>
            <a:off x="6711696" y="2231136"/>
            <a:ext cx="694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3450"/>
                </a:solidFill>
              </a:rPr>
              <a:t>2.4</a:t>
            </a:r>
            <a:endParaRPr lang="en-US" sz="800" dirty="0"/>
          </a:p>
        </p:txBody>
      </p:sp>
      <p:sp>
        <p:nvSpPr>
          <p:cNvPr id="57" name="Shape 54"/>
          <p:cNvSpPr/>
          <p:nvPr/>
        </p:nvSpPr>
        <p:spPr>
          <a:xfrm>
            <a:off x="7406640" y="2231136"/>
            <a:ext cx="694944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8" name="Text 55"/>
          <p:cNvSpPr/>
          <p:nvPr/>
        </p:nvSpPr>
        <p:spPr>
          <a:xfrm>
            <a:off x="7406640" y="2231136"/>
            <a:ext cx="694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3450"/>
                </a:solidFill>
              </a:rPr>
              <a:t>6.3</a:t>
            </a:r>
            <a:endParaRPr lang="en-US" sz="800" dirty="0"/>
          </a:p>
        </p:txBody>
      </p:sp>
      <p:sp>
        <p:nvSpPr>
          <p:cNvPr id="59" name="Shape 56"/>
          <p:cNvSpPr/>
          <p:nvPr/>
        </p:nvSpPr>
        <p:spPr>
          <a:xfrm>
            <a:off x="8101584" y="2231136"/>
            <a:ext cx="694944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0" name="Text 57"/>
          <p:cNvSpPr/>
          <p:nvPr/>
        </p:nvSpPr>
        <p:spPr>
          <a:xfrm>
            <a:off x="8101584" y="2231136"/>
            <a:ext cx="694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07B39"/>
                </a:solidFill>
              </a:rPr>
              <a:t>9.2</a:t>
            </a:r>
            <a:endParaRPr lang="en-US" sz="800" dirty="0"/>
          </a:p>
        </p:txBody>
      </p:sp>
      <p:sp>
        <p:nvSpPr>
          <p:cNvPr id="61" name="Shape 58"/>
          <p:cNvSpPr/>
          <p:nvPr/>
        </p:nvSpPr>
        <p:spPr>
          <a:xfrm>
            <a:off x="5504688" y="2578608"/>
            <a:ext cx="512064" cy="347472"/>
          </a:xfrm>
          <a:prstGeom prst="rect">
            <a:avLst/>
          </a:prstGeom>
          <a:solidFill>
            <a:srgbClr val="EFF5FC"/>
          </a:solidFill>
          <a:ln/>
        </p:spPr>
      </p:sp>
      <p:sp>
        <p:nvSpPr>
          <p:cNvPr id="62" name="Text 59"/>
          <p:cNvSpPr/>
          <p:nvPr/>
        </p:nvSpPr>
        <p:spPr>
          <a:xfrm>
            <a:off x="5504688" y="2578608"/>
            <a:ext cx="512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3450"/>
                </a:solidFill>
              </a:rPr>
              <a:t>2016</a:t>
            </a:r>
            <a:endParaRPr lang="en-US" sz="800" dirty="0"/>
          </a:p>
        </p:txBody>
      </p:sp>
      <p:sp>
        <p:nvSpPr>
          <p:cNvPr id="63" name="Shape 60"/>
          <p:cNvSpPr/>
          <p:nvPr/>
        </p:nvSpPr>
        <p:spPr>
          <a:xfrm>
            <a:off x="6016752" y="2578608"/>
            <a:ext cx="694944" cy="347472"/>
          </a:xfrm>
          <a:prstGeom prst="rect">
            <a:avLst/>
          </a:prstGeom>
          <a:solidFill>
            <a:srgbClr val="EFF5FC"/>
          </a:solidFill>
          <a:ln/>
        </p:spPr>
      </p:sp>
      <p:sp>
        <p:nvSpPr>
          <p:cNvPr id="64" name="Text 61"/>
          <p:cNvSpPr/>
          <p:nvPr/>
        </p:nvSpPr>
        <p:spPr>
          <a:xfrm>
            <a:off x="6016752" y="2578608"/>
            <a:ext cx="694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3450"/>
                </a:solidFill>
              </a:rPr>
              <a:t>7.6</a:t>
            </a:r>
            <a:endParaRPr lang="en-US" sz="800" dirty="0"/>
          </a:p>
        </p:txBody>
      </p:sp>
      <p:sp>
        <p:nvSpPr>
          <p:cNvPr id="65" name="Shape 62"/>
          <p:cNvSpPr/>
          <p:nvPr/>
        </p:nvSpPr>
        <p:spPr>
          <a:xfrm>
            <a:off x="6711696" y="2578608"/>
            <a:ext cx="694944" cy="347472"/>
          </a:xfrm>
          <a:prstGeom prst="rect">
            <a:avLst/>
          </a:prstGeom>
          <a:solidFill>
            <a:srgbClr val="EFF5FC"/>
          </a:solidFill>
          <a:ln/>
        </p:spPr>
      </p:sp>
      <p:sp>
        <p:nvSpPr>
          <p:cNvPr id="66" name="Text 63"/>
          <p:cNvSpPr/>
          <p:nvPr/>
        </p:nvSpPr>
        <p:spPr>
          <a:xfrm>
            <a:off x="6711696" y="2578608"/>
            <a:ext cx="694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07B39"/>
                </a:solidFill>
              </a:rPr>
              <a:t>9.6</a:t>
            </a:r>
            <a:endParaRPr lang="en-US" sz="800" dirty="0"/>
          </a:p>
        </p:txBody>
      </p:sp>
      <p:sp>
        <p:nvSpPr>
          <p:cNvPr id="67" name="Shape 64"/>
          <p:cNvSpPr/>
          <p:nvPr/>
        </p:nvSpPr>
        <p:spPr>
          <a:xfrm>
            <a:off x="7406640" y="2578608"/>
            <a:ext cx="694944" cy="347472"/>
          </a:xfrm>
          <a:prstGeom prst="rect">
            <a:avLst/>
          </a:prstGeom>
          <a:solidFill>
            <a:srgbClr val="EFF5FC"/>
          </a:solidFill>
          <a:ln/>
        </p:spPr>
      </p:sp>
      <p:sp>
        <p:nvSpPr>
          <p:cNvPr id="68" name="Text 65"/>
          <p:cNvSpPr/>
          <p:nvPr/>
        </p:nvSpPr>
        <p:spPr>
          <a:xfrm>
            <a:off x="7406640" y="2578608"/>
            <a:ext cx="694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3450"/>
                </a:solidFill>
              </a:rPr>
              <a:t>0.5</a:t>
            </a:r>
            <a:endParaRPr lang="en-US" sz="800" dirty="0"/>
          </a:p>
        </p:txBody>
      </p:sp>
      <p:sp>
        <p:nvSpPr>
          <p:cNvPr id="69" name="Shape 66"/>
          <p:cNvSpPr/>
          <p:nvPr/>
        </p:nvSpPr>
        <p:spPr>
          <a:xfrm>
            <a:off x="8101584" y="2578608"/>
            <a:ext cx="694944" cy="347472"/>
          </a:xfrm>
          <a:prstGeom prst="rect">
            <a:avLst/>
          </a:prstGeom>
          <a:solidFill>
            <a:srgbClr val="EFF5FC"/>
          </a:solidFill>
          <a:ln/>
        </p:spPr>
      </p:sp>
      <p:sp>
        <p:nvSpPr>
          <p:cNvPr id="70" name="Text 67"/>
          <p:cNvSpPr/>
          <p:nvPr/>
        </p:nvSpPr>
        <p:spPr>
          <a:xfrm>
            <a:off x="8101584" y="2578608"/>
            <a:ext cx="694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3450"/>
                </a:solidFill>
              </a:rPr>
              <a:t>—</a:t>
            </a:r>
            <a:endParaRPr lang="en-US" sz="800" dirty="0"/>
          </a:p>
        </p:txBody>
      </p:sp>
      <p:sp>
        <p:nvSpPr>
          <p:cNvPr id="71" name="Shape 68"/>
          <p:cNvSpPr/>
          <p:nvPr/>
        </p:nvSpPr>
        <p:spPr>
          <a:xfrm>
            <a:off x="274320" y="3785616"/>
            <a:ext cx="4233672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6350">
            <a:solidFill>
              <a:srgbClr val="E2EAF4"/>
            </a:solidFill>
            <a:prstDash val="solid"/>
          </a:ln>
          <a:effectLst>
            <a:outerShdw blurRad="127000" dist="25400" dir="8100000" algn="bl" rotWithShape="0">
              <a:srgbClr val="1A2E4A">
                <a:alpha val="9000"/>
              </a:srgbClr>
            </a:outerShdw>
          </a:effectLst>
        </p:spPr>
      </p:sp>
      <p:sp>
        <p:nvSpPr>
          <p:cNvPr id="72" name="Shape 69"/>
          <p:cNvSpPr/>
          <p:nvPr/>
        </p:nvSpPr>
        <p:spPr>
          <a:xfrm>
            <a:off x="274320" y="3858768"/>
            <a:ext cx="54864" cy="84124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420624" y="3858768"/>
            <a:ext cx="4032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3450"/>
                </a:solidFill>
              </a:rPr>
              <a:t>🔑  Key Insight:</a:t>
            </a:r>
            <a:endParaRPr lang="en-US" sz="900" dirty="0"/>
          </a:p>
        </p:txBody>
      </p:sp>
      <p:sp>
        <p:nvSpPr>
          <p:cNvPr id="74" name="Text 71"/>
          <p:cNvSpPr/>
          <p:nvPr/>
        </p:nvSpPr>
        <p:spPr>
          <a:xfrm>
            <a:off x="420624" y="4114800"/>
            <a:ext cx="40325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</a:rPr>
              <a:t>Revenue peaks in May–June ($8.8–9.0M) and December ($9.1M). July is consistently the lowest month at $5.7M — an opportunity for targeted mid-summer promotions.</a:t>
            </a:r>
            <a:endParaRPr lang="en-US" sz="850" dirty="0"/>
          </a:p>
        </p:txBody>
      </p:sp>
      <p:sp>
        <p:nvSpPr>
          <p:cNvPr id="75" name="Shape 72"/>
          <p:cNvSpPr/>
          <p:nvPr/>
        </p:nvSpPr>
        <p:spPr>
          <a:xfrm>
            <a:off x="4636008" y="3785616"/>
            <a:ext cx="4233672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6350">
            <a:solidFill>
              <a:srgbClr val="E2EAF4"/>
            </a:solidFill>
            <a:prstDash val="solid"/>
          </a:ln>
          <a:effectLst>
            <a:outerShdw blurRad="127000" dist="25400" dir="8100000" algn="bl" rotWithShape="0">
              <a:srgbClr val="1A2E4A">
                <a:alpha val="9000"/>
              </a:srgbClr>
            </a:outerShdw>
          </a:effectLst>
        </p:spPr>
      </p:sp>
      <p:sp>
        <p:nvSpPr>
          <p:cNvPr id="76" name="Shape 73"/>
          <p:cNvSpPr/>
          <p:nvPr/>
        </p:nvSpPr>
        <p:spPr>
          <a:xfrm>
            <a:off x="4636008" y="3858768"/>
            <a:ext cx="54864" cy="84124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4782312" y="3858768"/>
            <a:ext cx="4032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3450"/>
                </a:solidFill>
              </a:rPr>
              <a:t>⚠️  Warning Signal:</a:t>
            </a:r>
            <a:endParaRPr lang="en-US" sz="900" dirty="0"/>
          </a:p>
        </p:txBody>
      </p:sp>
      <p:sp>
        <p:nvSpPr>
          <p:cNvPr id="78" name="Text 75"/>
          <p:cNvSpPr/>
          <p:nvPr/>
        </p:nvSpPr>
        <p:spPr>
          <a:xfrm>
            <a:off x="4782312" y="4114800"/>
            <a:ext cx="40325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</a:rPr>
              <a:t>Q3–Q4 of 2014 and 2016 show near-zero values — data is incomplete for those year halves. Q4 2015 at $9.2M is the strongest single quarter on record.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8046720" y="4297680"/>
            <a:ext cx="822960" cy="822960"/>
          </a:xfrm>
          <a:prstGeom prst="ellipse">
            <a:avLst/>
          </a:prstGeom>
          <a:solidFill>
            <a:srgbClr val="D5E5F5"/>
          </a:solidFill>
          <a:ln w="12700">
            <a:solidFill>
              <a:srgbClr val="D5E5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450"/>
          </a:solidFill>
          <a:ln w="12700">
            <a:solidFill>
              <a:srgbClr val="1E34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82296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554480" y="91440"/>
            <a:ext cx="7498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 Category &amp; Sub-Category Analysis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0" y="4919472"/>
            <a:ext cx="9144000" cy="201168"/>
          </a:xfrm>
          <a:prstGeom prst="rect">
            <a:avLst/>
          </a:prstGeom>
          <a:solidFill>
            <a:srgbClr val="DDE8F4"/>
          </a:solidFill>
          <a:ln w="12700">
            <a:solidFill>
              <a:srgbClr val="DDE8F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46304" y="4956048"/>
            <a:ext cx="118872" cy="118872"/>
          </a:xfrm>
          <a:prstGeom prst="ellipse">
            <a:avLst/>
          </a:prstGeom>
          <a:solidFill>
            <a:srgbClr val="1E3450"/>
          </a:solidFill>
          <a:ln w="12700">
            <a:solidFill>
              <a:srgbClr val="1E34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493776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E3450"/>
                </a:solidFill>
              </a:rPr>
              <a:t>DATA INSIGHTS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6492240" y="5001768"/>
            <a:ext cx="914400" cy="36576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4937760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</a:rPr>
              <a:t>Europe Bike Store  •  EDA Analysis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74320" y="877824"/>
            <a:ext cx="4937760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6350">
            <a:solidFill>
              <a:srgbClr val="E2EAF4"/>
            </a:solidFill>
            <a:prstDash val="solid"/>
          </a:ln>
          <a:effectLst>
            <a:outerShdw blurRad="127000" dist="25400" dir="8100000" algn="bl" rotWithShape="0">
              <a:srgbClr val="1A2E4A">
                <a:alpha val="9000"/>
              </a:srgbClr>
            </a:outerShdw>
          </a:effectLst>
        </p:spPr>
      </p:sp>
      <p:graphicFrame>
        <p:nvGraphicFramePr>
          <p:cNvPr id="18" name="Chart 0"/>
          <p:cNvGraphicFramePr/>
          <p:nvPr/>
        </p:nvGraphicFramePr>
        <p:xfrm>
          <a:off x="347472" y="914400"/>
          <a:ext cx="4791456" cy="27614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9" name="Shape 16"/>
          <p:cNvSpPr/>
          <p:nvPr/>
        </p:nvSpPr>
        <p:spPr>
          <a:xfrm>
            <a:off x="5376672" y="877824"/>
            <a:ext cx="3493008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6350">
            <a:solidFill>
              <a:srgbClr val="E2EAF4"/>
            </a:solidFill>
            <a:prstDash val="solid"/>
          </a:ln>
          <a:effectLst>
            <a:outerShdw blurRad="127000" dist="25400" dir="8100000" algn="bl" rotWithShape="0">
              <a:srgbClr val="1A2E4A">
                <a:alpha val="9000"/>
              </a:srgbClr>
            </a:outerShdw>
          </a:effectLst>
        </p:spPr>
      </p:sp>
      <p:graphicFrame>
        <p:nvGraphicFramePr>
          <p:cNvPr id="20" name="Chart 1"/>
          <p:cNvGraphicFramePr/>
          <p:nvPr/>
        </p:nvGraphicFramePr>
        <p:xfrm>
          <a:off x="5431536" y="914400"/>
          <a:ext cx="3383280" cy="27614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1" name="Shape 17"/>
          <p:cNvSpPr/>
          <p:nvPr/>
        </p:nvSpPr>
        <p:spPr>
          <a:xfrm>
            <a:off x="274320" y="3785616"/>
            <a:ext cx="2779776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6350">
            <a:solidFill>
              <a:srgbClr val="E2EAF4"/>
            </a:solidFill>
            <a:prstDash val="solid"/>
          </a:ln>
          <a:effectLst>
            <a:outerShdw blurRad="127000" dist="25400" dir="8100000" algn="bl" rotWithShape="0">
              <a:srgbClr val="1A2E4A">
                <a:alpha val="9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274320" y="3867912"/>
            <a:ext cx="54864" cy="822960"/>
          </a:xfrm>
          <a:prstGeom prst="rect">
            <a:avLst/>
          </a:prstGeom>
          <a:solidFill>
            <a:srgbClr val="1E3450"/>
          </a:solidFill>
          <a:ln w="12700">
            <a:solidFill>
              <a:srgbClr val="1E3450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20624" y="38862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450"/>
                </a:solidFill>
              </a:rPr>
              <a:t>👑  Bikes Dominate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420624" y="4178808"/>
            <a:ext cx="2560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</a:rPr>
              <a:t>$61.4M — 72.4% of total revenue. Road Bikes alone = $33.2M (39.1%). The primary engine.</a:t>
            </a:r>
            <a:endParaRPr lang="en-US" sz="850" dirty="0"/>
          </a:p>
        </p:txBody>
      </p:sp>
      <p:sp>
        <p:nvSpPr>
          <p:cNvPr id="25" name="Shape 21"/>
          <p:cNvSpPr/>
          <p:nvPr/>
        </p:nvSpPr>
        <p:spPr>
          <a:xfrm>
            <a:off x="3182112" y="3785616"/>
            <a:ext cx="2779776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6350">
            <a:solidFill>
              <a:srgbClr val="E2EAF4"/>
            </a:solidFill>
            <a:prstDash val="solid"/>
          </a:ln>
          <a:effectLst>
            <a:outerShdw blurRad="127000" dist="25400" dir="8100000" algn="bl" rotWithShape="0">
              <a:srgbClr val="1A2E4A">
                <a:alpha val="9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3182112" y="3867912"/>
            <a:ext cx="54864" cy="82296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3328416" y="38862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450"/>
                </a:solidFill>
              </a:rPr>
              <a:t>⭐  Best Margin: Accessories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3328416" y="4178808"/>
            <a:ext cx="2560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</a:rPr>
              <a:t>45.5% margin vs Bikes' 33.2%. Cross-selling accessories with every bike is the top-ROI play.</a:t>
            </a:r>
            <a:endParaRPr lang="en-US" sz="850" dirty="0"/>
          </a:p>
        </p:txBody>
      </p:sp>
      <p:sp>
        <p:nvSpPr>
          <p:cNvPr id="29" name="Shape 25"/>
          <p:cNvSpPr/>
          <p:nvPr/>
        </p:nvSpPr>
        <p:spPr>
          <a:xfrm>
            <a:off x="6089904" y="3785616"/>
            <a:ext cx="2779776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6350">
            <a:solidFill>
              <a:srgbClr val="E2EAF4"/>
            </a:solidFill>
            <a:prstDash val="solid"/>
          </a:ln>
          <a:effectLst>
            <a:outerShdw blurRad="127000" dist="25400" dir="8100000" algn="bl" rotWithShape="0">
              <a:srgbClr val="1A2E4A">
                <a:alpha val="9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6089904" y="3867912"/>
            <a:ext cx="54864" cy="8229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236208" y="38862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450"/>
                </a:solidFill>
              </a:rPr>
              <a:t>⚠️  Jersey Margin Alert</a:t>
            </a:r>
            <a:endParaRPr lang="en-US" sz="1000" dirty="0"/>
          </a:p>
        </p:txBody>
      </p:sp>
      <p:sp>
        <p:nvSpPr>
          <p:cNvPr id="32" name="Text 28"/>
          <p:cNvSpPr/>
          <p:nvPr/>
        </p:nvSpPr>
        <p:spPr>
          <a:xfrm>
            <a:off x="6236208" y="4178808"/>
            <a:ext cx="2560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</a:rPr>
              <a:t>Only 14.7% margin — lowest of all 17 sub-categories. An urgent pricing review is needed.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8046720" y="4297680"/>
            <a:ext cx="822960" cy="822960"/>
          </a:xfrm>
          <a:prstGeom prst="ellipse">
            <a:avLst/>
          </a:prstGeom>
          <a:solidFill>
            <a:srgbClr val="D5E5F5"/>
          </a:solidFill>
          <a:ln w="12700">
            <a:solidFill>
              <a:srgbClr val="D5E5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450"/>
          </a:solidFill>
          <a:ln w="12700">
            <a:solidFill>
              <a:srgbClr val="1E34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82296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554480" y="91440"/>
            <a:ext cx="7498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Customer Demographics — Age &amp; Gender Analysis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0" y="4919472"/>
            <a:ext cx="9144000" cy="201168"/>
          </a:xfrm>
          <a:prstGeom prst="rect">
            <a:avLst/>
          </a:prstGeom>
          <a:solidFill>
            <a:srgbClr val="DDE8F4"/>
          </a:solidFill>
          <a:ln w="12700">
            <a:solidFill>
              <a:srgbClr val="DDE8F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46304" y="4956048"/>
            <a:ext cx="118872" cy="118872"/>
          </a:xfrm>
          <a:prstGeom prst="ellipse">
            <a:avLst/>
          </a:prstGeom>
          <a:solidFill>
            <a:srgbClr val="1E3450"/>
          </a:solidFill>
          <a:ln w="12700">
            <a:solidFill>
              <a:srgbClr val="1E34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493776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E3450"/>
                </a:solidFill>
              </a:rPr>
              <a:t>DATA INSIGHTS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6492240" y="5001768"/>
            <a:ext cx="914400" cy="36576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4937760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</a:rPr>
              <a:t>Europe Bike Store  •  EDA Analysis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74320" y="877824"/>
            <a:ext cx="4937760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6350">
            <a:solidFill>
              <a:srgbClr val="E2EAF4"/>
            </a:solidFill>
            <a:prstDash val="solid"/>
          </a:ln>
          <a:effectLst>
            <a:outerShdw blurRad="127000" dist="25400" dir="8100000" algn="bl" rotWithShape="0">
              <a:srgbClr val="1A2E4A">
                <a:alpha val="9000"/>
              </a:srgbClr>
            </a:outerShdw>
          </a:effectLst>
        </p:spPr>
      </p:sp>
      <p:graphicFrame>
        <p:nvGraphicFramePr>
          <p:cNvPr id="18" name="Chart 0"/>
          <p:cNvGraphicFramePr/>
          <p:nvPr/>
        </p:nvGraphicFramePr>
        <p:xfrm>
          <a:off x="347472" y="914400"/>
          <a:ext cx="4791456" cy="27614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9" name="Shape 16"/>
          <p:cNvSpPr/>
          <p:nvPr/>
        </p:nvSpPr>
        <p:spPr>
          <a:xfrm>
            <a:off x="5376672" y="877824"/>
            <a:ext cx="3493008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6350">
            <a:solidFill>
              <a:srgbClr val="E2EAF4"/>
            </a:solidFill>
            <a:prstDash val="solid"/>
          </a:ln>
          <a:effectLst>
            <a:outerShdw blurRad="127000" dist="25400" dir="8100000" algn="bl" rotWithShape="0">
              <a:srgbClr val="1A2E4A">
                <a:alpha val="9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5504688" y="941832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4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113,036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504688" y="1280160"/>
            <a:ext cx="2670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Total Orders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8174736" y="987552"/>
            <a:ext cx="402336" cy="402336"/>
          </a:xfrm>
          <a:prstGeom prst="ellipse">
            <a:avLst/>
          </a:prstGeom>
          <a:solidFill>
            <a:srgbClr val="FAE8D4"/>
          </a:solidFill>
          <a:ln w="12700">
            <a:solidFill>
              <a:srgbClr val="FAE8D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174736" y="987552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📦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5376672" y="1572768"/>
            <a:ext cx="3493008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6350">
            <a:solidFill>
              <a:srgbClr val="E2EAF4"/>
            </a:solidFill>
            <a:prstDash val="solid"/>
          </a:ln>
          <a:effectLst>
            <a:outerShdw blurRad="127000" dist="25400" dir="8100000" algn="bl" rotWithShape="0">
              <a:srgbClr val="1A2E4A">
                <a:alpha val="9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5504688" y="1636776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4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5504688" y="1975104"/>
            <a:ext cx="2670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Countries Served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8174736" y="1682496"/>
            <a:ext cx="402336" cy="402336"/>
          </a:xfrm>
          <a:prstGeom prst="ellipse">
            <a:avLst/>
          </a:prstGeom>
          <a:solidFill>
            <a:srgbClr val="FAE8D4"/>
          </a:solidFill>
          <a:ln w="12700">
            <a:solidFill>
              <a:srgbClr val="FAE8D4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174736" y="1682496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🌍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5376672" y="2267712"/>
            <a:ext cx="3493008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6350">
            <a:solidFill>
              <a:srgbClr val="E2EAF4"/>
            </a:solidFill>
            <a:prstDash val="solid"/>
          </a:ln>
          <a:effectLst>
            <a:outerShdw blurRad="127000" dist="25400" dir="8100000" algn="bl" rotWithShape="0">
              <a:srgbClr val="1A2E4A">
                <a:alpha val="9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5504688" y="2331720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4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49.6%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5504688" y="2670048"/>
            <a:ext cx="2670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Adults 35-64 Share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8174736" y="2377440"/>
            <a:ext cx="402336" cy="402336"/>
          </a:xfrm>
          <a:prstGeom prst="ellipse">
            <a:avLst/>
          </a:prstGeom>
          <a:solidFill>
            <a:srgbClr val="FAE8D4"/>
          </a:solidFill>
          <a:ln w="12700">
            <a:solidFill>
              <a:srgbClr val="FAE8D4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174736" y="2377440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👥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5376672" y="2962656"/>
            <a:ext cx="3493008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6350">
            <a:solidFill>
              <a:srgbClr val="E2EAF4"/>
            </a:solidFill>
            <a:prstDash val="solid"/>
          </a:ln>
          <a:effectLst>
            <a:outerShdw blurRad="127000" dist="25400" dir="8100000" algn="bl" rotWithShape="0">
              <a:srgbClr val="1A2E4A">
                <a:alpha val="9000"/>
              </a:srgbClr>
            </a:outerShdw>
          </a:effectLst>
        </p:spPr>
      </p:sp>
      <p:sp>
        <p:nvSpPr>
          <p:cNvPr id="35" name="Text 32"/>
          <p:cNvSpPr/>
          <p:nvPr/>
        </p:nvSpPr>
        <p:spPr>
          <a:xfrm>
            <a:off x="5504688" y="3026664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4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0.18%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5504688" y="3364992"/>
            <a:ext cx="2670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Male vs Female Gap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8174736" y="3072384"/>
            <a:ext cx="402336" cy="402336"/>
          </a:xfrm>
          <a:prstGeom prst="ellipse">
            <a:avLst/>
          </a:prstGeom>
          <a:solidFill>
            <a:srgbClr val="FAE8D4"/>
          </a:solidFill>
          <a:ln w="12700">
            <a:solidFill>
              <a:srgbClr val="FAE8D4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8174736" y="3072384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⚖️</a:t>
            </a:r>
            <a:endParaRPr lang="en-US" sz="1400" dirty="0"/>
          </a:p>
        </p:txBody>
      </p:sp>
      <p:sp>
        <p:nvSpPr>
          <p:cNvPr id="39" name="Shape 36"/>
          <p:cNvSpPr/>
          <p:nvPr/>
        </p:nvSpPr>
        <p:spPr>
          <a:xfrm>
            <a:off x="274320" y="3785616"/>
            <a:ext cx="2779776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6350">
            <a:solidFill>
              <a:srgbClr val="E2EAF4"/>
            </a:solidFill>
            <a:prstDash val="solid"/>
          </a:ln>
          <a:effectLst>
            <a:outerShdw blurRad="127000" dist="25400" dir="8100000" algn="bl" rotWithShape="0">
              <a:srgbClr val="1A2E4A">
                <a:alpha val="9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274320" y="3867912"/>
            <a:ext cx="54864" cy="82296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20624" y="38862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450"/>
                </a:solidFill>
              </a:rPr>
              <a:t>🥇  Adults 35-64 Lead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420624" y="4178808"/>
            <a:ext cx="2560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</a:rPr>
              <a:t>$42.1M — 49.6% of total. Core buyer in all 6 countries.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3182112" y="3785616"/>
            <a:ext cx="2779776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6350">
            <a:solidFill>
              <a:srgbClr val="E2EAF4"/>
            </a:solidFill>
            <a:prstDash val="solid"/>
          </a:ln>
          <a:effectLst>
            <a:outerShdw blurRad="127000" dist="25400" dir="8100000" algn="bl" rotWithShape="0">
              <a:srgbClr val="1A2E4A">
                <a:alpha val="9000"/>
              </a:srgbClr>
            </a:outerShdw>
          </a:effectLst>
        </p:spPr>
      </p:sp>
      <p:sp>
        <p:nvSpPr>
          <p:cNvPr id="44" name="Shape 41"/>
          <p:cNvSpPr/>
          <p:nvPr/>
        </p:nvSpPr>
        <p:spPr>
          <a:xfrm>
            <a:off x="3182112" y="3867912"/>
            <a:ext cx="54864" cy="82296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3328416" y="38862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450"/>
                </a:solidFill>
              </a:rPr>
              <a:t>📈  Young Adults Growing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3328416" y="4178808"/>
            <a:ext cx="2560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</a:rPr>
              <a:t>$30.4M — 35.9% share. Especially strong in France &amp; Germany.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6089904" y="3785616"/>
            <a:ext cx="2779776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6350">
            <a:solidFill>
              <a:srgbClr val="E2EAF4"/>
            </a:solidFill>
            <a:prstDash val="solid"/>
          </a:ln>
          <a:effectLst>
            <a:outerShdw blurRad="127000" dist="25400" dir="8100000" algn="bl" rotWithShape="0">
              <a:srgbClr val="1A2E4A">
                <a:alpha val="9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6089904" y="3867912"/>
            <a:ext cx="54864" cy="8229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6236208" y="38862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450"/>
                </a:solidFill>
              </a:rPr>
              <a:t>👴  Seniors Untapped</a:t>
            </a:r>
            <a:endParaRPr lang="en-US" sz="1000" dirty="0"/>
          </a:p>
        </p:txBody>
      </p:sp>
      <p:sp>
        <p:nvSpPr>
          <p:cNvPr id="50" name="Text 47"/>
          <p:cNvSpPr/>
          <p:nvPr/>
        </p:nvSpPr>
        <p:spPr>
          <a:xfrm>
            <a:off x="6236208" y="4178808"/>
            <a:ext cx="2560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</a:rPr>
              <a:t>Only $0.31M — 0.4% share. A near-zero-cost growth opportunity.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8046720" y="4297680"/>
            <a:ext cx="822960" cy="822960"/>
          </a:xfrm>
          <a:prstGeom prst="ellipse">
            <a:avLst/>
          </a:prstGeom>
          <a:solidFill>
            <a:srgbClr val="D5E5F5"/>
          </a:solidFill>
          <a:ln w="12700">
            <a:solidFill>
              <a:srgbClr val="D5E5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450"/>
          </a:solidFill>
          <a:ln w="12700">
            <a:solidFill>
              <a:srgbClr val="1E34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82296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554480" y="91440"/>
            <a:ext cx="7498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Geographic Revenue Distribution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0" y="4919472"/>
            <a:ext cx="9144000" cy="201168"/>
          </a:xfrm>
          <a:prstGeom prst="rect">
            <a:avLst/>
          </a:prstGeom>
          <a:solidFill>
            <a:srgbClr val="DDE8F4"/>
          </a:solidFill>
          <a:ln w="12700">
            <a:solidFill>
              <a:srgbClr val="DDE8F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46304" y="4956048"/>
            <a:ext cx="118872" cy="118872"/>
          </a:xfrm>
          <a:prstGeom prst="ellipse">
            <a:avLst/>
          </a:prstGeom>
          <a:solidFill>
            <a:srgbClr val="1E3450"/>
          </a:solidFill>
          <a:ln w="12700">
            <a:solidFill>
              <a:srgbClr val="1E34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493776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E3450"/>
                </a:solidFill>
              </a:rPr>
              <a:t>DATA INSIGHTS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6492240" y="5001768"/>
            <a:ext cx="914400" cy="36576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4937760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</a:rPr>
              <a:t>Europe Bike Store  •  EDA Analysis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74320" y="877824"/>
            <a:ext cx="8595360" cy="2670048"/>
          </a:xfrm>
          <a:prstGeom prst="roundRect">
            <a:avLst>
              <a:gd name="adj" fmla="val 3425"/>
            </a:avLst>
          </a:prstGeom>
          <a:solidFill>
            <a:srgbClr val="FFFFFF"/>
          </a:solidFill>
          <a:ln w="6350">
            <a:solidFill>
              <a:srgbClr val="E2EAF4"/>
            </a:solidFill>
            <a:prstDash val="solid"/>
          </a:ln>
          <a:effectLst>
            <a:outerShdw blurRad="127000" dist="25400" dir="8100000" algn="bl" rotWithShape="0">
              <a:srgbClr val="1A2E4A">
                <a:alpha val="9000"/>
              </a:srgbClr>
            </a:outerShdw>
          </a:effectLst>
        </p:spPr>
      </p:sp>
      <p:graphicFrame>
        <p:nvGraphicFramePr>
          <p:cNvPr id="18" name="Chart 0"/>
          <p:cNvGraphicFramePr/>
          <p:nvPr/>
        </p:nvGraphicFramePr>
        <p:xfrm>
          <a:off x="347472" y="914400"/>
          <a:ext cx="8449056" cy="25968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9" name="Shape 16"/>
          <p:cNvSpPr/>
          <p:nvPr/>
        </p:nvSpPr>
        <p:spPr>
          <a:xfrm>
            <a:off x="274320" y="3712464"/>
            <a:ext cx="2779776" cy="1060704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6350">
            <a:solidFill>
              <a:srgbClr val="E2EAF4"/>
            </a:solidFill>
            <a:prstDash val="solid"/>
          </a:ln>
          <a:effectLst>
            <a:outerShdw blurRad="127000" dist="25400" dir="8100000" algn="bl" rotWithShape="0">
              <a:srgbClr val="1A2E4A">
                <a:alpha val="9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274320" y="3794760"/>
            <a:ext cx="54864" cy="896112"/>
          </a:xfrm>
          <a:prstGeom prst="rect">
            <a:avLst/>
          </a:prstGeom>
          <a:solidFill>
            <a:srgbClr val="1E3450"/>
          </a:solidFill>
          <a:ln w="12700">
            <a:solidFill>
              <a:srgbClr val="1E345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20624" y="381304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450"/>
                </a:solidFill>
              </a:rPr>
              <a:t>🌍  Market Concentration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20624" y="4105656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</a:rPr>
              <a:t>USA ($27.8M) + Australia ($21.2M) = 57.6% of global revenue. Two anchor markets drive the business.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182112" y="3712464"/>
            <a:ext cx="2779776" cy="1060704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6350">
            <a:solidFill>
              <a:srgbClr val="E2EAF4"/>
            </a:solidFill>
            <a:prstDash val="solid"/>
          </a:ln>
          <a:effectLst>
            <a:outerShdw blurRad="127000" dist="25400" dir="8100000" algn="bl" rotWithShape="0">
              <a:srgbClr val="1A2E4A">
                <a:alpha val="9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3182112" y="3794760"/>
            <a:ext cx="54864" cy="89611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328416" y="381304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450"/>
                </a:solidFill>
              </a:rPr>
              <a:t>💰  Revenue Efficiency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3328416" y="4105656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</a:rPr>
              <a:t>Canada has the highest margin (54.8%) yet ranks 6th in revenue. High-value customers with premium pricing power.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6089904" y="3712464"/>
            <a:ext cx="2779776" cy="1060704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6350">
            <a:solidFill>
              <a:srgbClr val="E2EAF4"/>
            </a:solidFill>
            <a:prstDash val="solid"/>
          </a:ln>
          <a:effectLst>
            <a:outerShdw blurRad="127000" dist="25400" dir="8100000" algn="bl" rotWithShape="0">
              <a:srgbClr val="1A2E4A">
                <a:alpha val="9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6089904" y="3794760"/>
            <a:ext cx="54864" cy="896112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236208" y="381304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450"/>
                </a:solidFill>
              </a:rPr>
              <a:t>🚀  Expansion Opportunity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6236208" y="4105656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</a:rPr>
              <a:t>UK, Germany &amp; France are clustered at $8.4–10.6M. Localised campaigns could unlock $3–5M in accessible upside.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8046720" y="4297680"/>
            <a:ext cx="822960" cy="822960"/>
          </a:xfrm>
          <a:prstGeom prst="ellipse">
            <a:avLst/>
          </a:prstGeom>
          <a:solidFill>
            <a:srgbClr val="D5E5F5"/>
          </a:solidFill>
          <a:ln w="12700">
            <a:solidFill>
              <a:srgbClr val="D5E5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450"/>
          </a:solidFill>
          <a:ln w="12700">
            <a:solidFill>
              <a:srgbClr val="1E345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82296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554480" y="91440"/>
            <a:ext cx="7498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Revenue Drivers — What Drives Sales?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0" y="4919472"/>
            <a:ext cx="9144000" cy="201168"/>
          </a:xfrm>
          <a:prstGeom prst="rect">
            <a:avLst/>
          </a:prstGeom>
          <a:solidFill>
            <a:srgbClr val="DDE8F4"/>
          </a:solidFill>
          <a:ln w="12700">
            <a:solidFill>
              <a:srgbClr val="DDE8F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46304" y="4956048"/>
            <a:ext cx="118872" cy="118872"/>
          </a:xfrm>
          <a:prstGeom prst="ellipse">
            <a:avLst/>
          </a:prstGeom>
          <a:solidFill>
            <a:srgbClr val="1E3450"/>
          </a:solidFill>
          <a:ln w="12700">
            <a:solidFill>
              <a:srgbClr val="1E34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493776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E3450"/>
                </a:solidFill>
              </a:rPr>
              <a:t>DATA INSIGHTS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6492240" y="5001768"/>
            <a:ext cx="914400" cy="36576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4937760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</a:rPr>
              <a:t>Europe Bike Store  •  EDA Analysis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74320" y="896112"/>
            <a:ext cx="4215384" cy="1810512"/>
          </a:xfrm>
          <a:prstGeom prst="roundRect">
            <a:avLst>
              <a:gd name="adj" fmla="val 5051"/>
            </a:avLst>
          </a:prstGeom>
          <a:solidFill>
            <a:srgbClr val="FFFFFF"/>
          </a:solidFill>
          <a:ln w="6350">
            <a:solidFill>
              <a:srgbClr val="E2EAF4"/>
            </a:solidFill>
            <a:prstDash val="solid"/>
          </a:ln>
          <a:effectLst>
            <a:outerShdw blurRad="127000" dist="25400" dir="8100000" algn="bl" rotWithShape="0">
              <a:srgbClr val="1A2E4A">
                <a:alpha val="9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38912" y="1005840"/>
            <a:ext cx="39959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07B39"/>
                </a:solidFill>
              </a:rPr>
              <a:t>Key Finding #1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38912" y="1280160"/>
            <a:ext cx="3941064" cy="36576"/>
          </a:xfrm>
          <a:prstGeom prst="rect">
            <a:avLst/>
          </a:prstGeom>
          <a:solidFill>
            <a:srgbClr val="E2EAF4"/>
          </a:solidFill>
          <a:ln w="12700">
            <a:solidFill>
              <a:srgbClr val="E2EAF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1353312"/>
            <a:ext cx="39959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450"/>
                </a:solidFill>
              </a:rPr>
              <a:t>Bikes are the Revenue Engine.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38912" y="1700784"/>
            <a:ext cx="39959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Bikes contribute 72.4% of total revenue ($61.4M), making them the single most critical product line. Any disruption to Bikes directly and immediately impacts overall business performance.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54296" y="896112"/>
            <a:ext cx="4215384" cy="1810512"/>
          </a:xfrm>
          <a:prstGeom prst="roundRect">
            <a:avLst>
              <a:gd name="adj" fmla="val 5051"/>
            </a:avLst>
          </a:prstGeom>
          <a:solidFill>
            <a:srgbClr val="FFFFFF"/>
          </a:solidFill>
          <a:ln w="6350">
            <a:solidFill>
              <a:srgbClr val="E2EAF4"/>
            </a:solidFill>
            <a:prstDash val="solid"/>
          </a:ln>
          <a:effectLst>
            <a:outerShdw blurRad="127000" dist="25400" dir="8100000" algn="bl" rotWithShape="0">
              <a:srgbClr val="1A2E4A">
                <a:alpha val="9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18888" y="1005840"/>
            <a:ext cx="39959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A9D8F"/>
                </a:solidFill>
              </a:rPr>
              <a:t>Key Finding #2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818888" y="1280160"/>
            <a:ext cx="3941064" cy="36576"/>
          </a:xfrm>
          <a:prstGeom prst="rect">
            <a:avLst/>
          </a:prstGeom>
          <a:solidFill>
            <a:srgbClr val="E2EAF4"/>
          </a:solidFill>
          <a:ln w="12700">
            <a:solidFill>
              <a:srgbClr val="E2EA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18888" y="1353312"/>
            <a:ext cx="39959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450"/>
                </a:solidFill>
              </a:rPr>
              <a:t>Accessories Deliver Outsized Margin.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18888" y="1700784"/>
            <a:ext cx="39959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Accessories achieve 45.5% profit margin versus Bikes at 33.2%. Though smaller in revenue ($15.0M), cross-selling accessories with every bike creates a high-value, disproportionately profitable revenue stream.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74320" y="2834640"/>
            <a:ext cx="8595360" cy="932688"/>
          </a:xfrm>
          <a:prstGeom prst="roundRect">
            <a:avLst>
              <a:gd name="adj" fmla="val 9804"/>
            </a:avLst>
          </a:prstGeom>
          <a:solidFill>
            <a:srgbClr val="1E3450"/>
          </a:solidFill>
          <a:ln/>
          <a:effectLst>
            <a:outerShdw blurRad="127000" dist="25400" dir="8100000" algn="bl" rotWithShape="0">
              <a:srgbClr val="1A2E4A">
                <a:alpha val="9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74320" y="2834640"/>
            <a:ext cx="73152" cy="93268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8912" y="292608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Strategic Implication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38912" y="3218688"/>
            <a:ext cx="833932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E"/>
                </a:solidFill>
              </a:rPr>
              <a:t>Pair volume-driving Bikes with high-margin Accessories in every transaction. A 'Bike + Bundle' cross-sell targeting Adults (35–64) in the USA and Australia could yield a 15–25% improvement in average transaction value — adding an estimated $2.5–4.0M per year.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74320" y="3895344"/>
            <a:ext cx="2779776" cy="877824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6350">
            <a:solidFill>
              <a:srgbClr val="E2EAF4"/>
            </a:solidFill>
            <a:prstDash val="solid"/>
          </a:ln>
          <a:effectLst>
            <a:outerShdw blurRad="127000" dist="25400" dir="8100000" algn="bl" rotWithShape="0">
              <a:srgbClr val="1A2E4A">
                <a:alpha val="9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74320" y="3977640"/>
            <a:ext cx="54864" cy="713232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20624" y="39959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450"/>
                </a:solidFill>
              </a:rPr>
              <a:t>📅  Seasonality is Predictable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20624" y="428853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</a:rPr>
              <a:t>May–June and December consistently spike. Build campaigns 3 weeks before each peak.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182112" y="3895344"/>
            <a:ext cx="2779776" cy="877824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6350">
            <a:solidFill>
              <a:srgbClr val="E2EAF4"/>
            </a:solidFill>
            <a:prstDash val="solid"/>
          </a:ln>
          <a:effectLst>
            <a:outerShdw blurRad="127000" dist="25400" dir="8100000" algn="bl" rotWithShape="0">
              <a:srgbClr val="1A2E4A">
                <a:alpha val="9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182112" y="3977640"/>
            <a:ext cx="54864" cy="71323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28416" y="39959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450"/>
                </a:solidFill>
              </a:rPr>
              <a:t>🌍  Canada = Hidden Profit Gem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328416" y="428853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</a:rPr>
              <a:t>54.8% margin globally. Low revenue but premium-priced buyers who respond to quality.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089904" y="3895344"/>
            <a:ext cx="2779776" cy="877824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6350">
            <a:solidFill>
              <a:srgbClr val="E2EAF4"/>
            </a:solidFill>
            <a:prstDash val="solid"/>
          </a:ln>
          <a:effectLst>
            <a:outerShdw blurRad="127000" dist="25400" dir="8100000" algn="bl" rotWithShape="0">
              <a:srgbClr val="1A2E4A">
                <a:alpha val="9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089904" y="3977640"/>
            <a:ext cx="54864" cy="713232"/>
          </a:xfrm>
          <a:prstGeom prst="rect">
            <a:avLst/>
          </a:prstGeom>
          <a:solidFill>
            <a:srgbClr val="1E3450"/>
          </a:solidFill>
          <a:ln w="12700">
            <a:solidFill>
              <a:srgbClr val="1E345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36208" y="39959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450"/>
                </a:solidFill>
              </a:rPr>
              <a:t>👥  Adults 35-64 = Core Buyer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236208" y="428853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</a:rPr>
              <a:t>49.6% revenue share across all 6 countries. Primary target for premium and bundles.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E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8046720" y="4297680"/>
            <a:ext cx="822960" cy="822960"/>
          </a:xfrm>
          <a:prstGeom prst="ellipse">
            <a:avLst/>
          </a:prstGeom>
          <a:solidFill>
            <a:srgbClr val="D5E5F5"/>
          </a:solidFill>
          <a:ln w="12700">
            <a:solidFill>
              <a:srgbClr val="D5E5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450"/>
          </a:solidFill>
          <a:ln w="12700">
            <a:solidFill>
              <a:srgbClr val="1E34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82296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554480" y="91440"/>
            <a:ext cx="7498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Recommendations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0" y="4919472"/>
            <a:ext cx="9144000" cy="201168"/>
          </a:xfrm>
          <a:prstGeom prst="rect">
            <a:avLst/>
          </a:prstGeom>
          <a:solidFill>
            <a:srgbClr val="DDE8F4"/>
          </a:solidFill>
          <a:ln w="12700">
            <a:solidFill>
              <a:srgbClr val="DDE8F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46304" y="4956048"/>
            <a:ext cx="118872" cy="118872"/>
          </a:xfrm>
          <a:prstGeom prst="ellipse">
            <a:avLst/>
          </a:prstGeom>
          <a:solidFill>
            <a:srgbClr val="1E3450"/>
          </a:solidFill>
          <a:ln w="12700">
            <a:solidFill>
              <a:srgbClr val="1E34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493776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E3450"/>
                </a:solidFill>
              </a:rPr>
              <a:t>DATA INSIGHTS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6492240" y="5001768"/>
            <a:ext cx="914400" cy="36576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4937760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</a:rPr>
              <a:t>Europe Bike Store  •  EDA Analysis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74320" y="896112"/>
            <a:ext cx="2779776" cy="1865376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6350">
            <a:solidFill>
              <a:srgbClr val="E2EAF4"/>
            </a:solidFill>
            <a:prstDash val="solid"/>
          </a:ln>
          <a:effectLst>
            <a:outerShdw blurRad="127000" dist="25400" dir="8100000" algn="bl" rotWithShape="0">
              <a:srgbClr val="1A2E4A">
                <a:alpha val="9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38912" y="1097280"/>
            <a:ext cx="438912" cy="438912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10972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" y="1097280"/>
            <a:ext cx="1883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450"/>
                </a:solidFill>
              </a:rPr>
              <a:t>Bike + Accessories Bundle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38912" y="1554480"/>
            <a:ext cx="2468880" cy="36576"/>
          </a:xfrm>
          <a:prstGeom prst="rect">
            <a:avLst/>
          </a:prstGeom>
          <a:solidFill>
            <a:srgbClr val="E2EAF4"/>
          </a:solidFill>
          <a:ln w="12700">
            <a:solidFill>
              <a:srgbClr val="E2EAF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1627632"/>
            <a:ext cx="2468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</a:rPr>
              <a:t>Accessories margin (45.5%) far exceeds Bikes (33.2%). Cross-sell Helmets and Tires &amp; Tubes with every Bike purchase to increase avg order value.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38912" y="2487168"/>
            <a:ext cx="1024128" cy="201168"/>
          </a:xfrm>
          <a:prstGeom prst="roundRect">
            <a:avLst>
              <a:gd name="adj" fmla="val 27273"/>
            </a:avLst>
          </a:prstGeom>
          <a:solidFill>
            <a:srgbClr val="FAE8D4"/>
          </a:solidFill>
          <a:ln w="12700">
            <a:solidFill>
              <a:srgbClr val="FAE8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" y="248716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07B39"/>
                </a:solidFill>
              </a:rPr>
              <a:t>High Impact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3145536" y="896112"/>
            <a:ext cx="2779776" cy="1865376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6350">
            <a:solidFill>
              <a:srgbClr val="E2EAF4"/>
            </a:solidFill>
            <a:prstDash val="solid"/>
          </a:ln>
          <a:effectLst>
            <a:outerShdw blurRad="127000" dist="25400" dir="8100000" algn="bl" rotWithShape="0">
              <a:srgbClr val="1A2E4A">
                <a:alpha val="9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310128" y="1097280"/>
            <a:ext cx="438912" cy="438912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10128" y="10972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877056" y="1097280"/>
            <a:ext cx="1883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450"/>
                </a:solidFill>
              </a:rPr>
              <a:t>Expand Canada Operations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310128" y="1554480"/>
            <a:ext cx="2468880" cy="36576"/>
          </a:xfrm>
          <a:prstGeom prst="rect">
            <a:avLst/>
          </a:prstGeom>
          <a:solidFill>
            <a:srgbClr val="E2EAF4"/>
          </a:solidFill>
          <a:ln w="12700">
            <a:solidFill>
              <a:srgbClr val="E2EAF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10128" y="1627632"/>
            <a:ext cx="2468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</a:rPr>
              <a:t>Canada has the best margin globally (54.8%) but ranks 6th in revenue. Targeted campaigns could unlock $1.2–2.0M incremental profit annually.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310128" y="2487168"/>
            <a:ext cx="1024128" cy="201168"/>
          </a:xfrm>
          <a:prstGeom prst="roundRect">
            <a:avLst>
              <a:gd name="adj" fmla="val 27273"/>
            </a:avLst>
          </a:prstGeom>
          <a:solidFill>
            <a:srgbClr val="FAE8D4"/>
          </a:solidFill>
          <a:ln w="12700">
            <a:solidFill>
              <a:srgbClr val="FAE8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10128" y="248716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07B39"/>
                </a:solidFill>
              </a:rPr>
              <a:t>High Impact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6016752" y="896112"/>
            <a:ext cx="2779776" cy="1865376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6350">
            <a:solidFill>
              <a:srgbClr val="E2EAF4"/>
            </a:solidFill>
            <a:prstDash val="solid"/>
          </a:ln>
          <a:effectLst>
            <a:outerShdw blurRad="127000" dist="25400" dir="8100000" algn="bl" rotWithShape="0">
              <a:srgbClr val="1A2E4A">
                <a:alpha val="9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181344" y="1097280"/>
            <a:ext cx="438912" cy="438912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81344" y="10972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748272" y="1097280"/>
            <a:ext cx="1883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450"/>
                </a:solidFill>
              </a:rPr>
              <a:t>Capitalize on Peak Months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181344" y="1554480"/>
            <a:ext cx="2468880" cy="36576"/>
          </a:xfrm>
          <a:prstGeom prst="rect">
            <a:avLst/>
          </a:prstGeom>
          <a:solidFill>
            <a:srgbClr val="E2EAF4"/>
          </a:solidFill>
          <a:ln w="12700">
            <a:solidFill>
              <a:srgbClr val="E2EAF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81344" y="1627632"/>
            <a:ext cx="2468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</a:rPr>
              <a:t>May–June and December consistently outperform. Front-load inventory and launch campaigns 2–3 weeks early to maximise revenue during peak windows.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181344" y="2487168"/>
            <a:ext cx="1024128" cy="201168"/>
          </a:xfrm>
          <a:prstGeom prst="roundRect">
            <a:avLst>
              <a:gd name="adj" fmla="val 27273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81344" y="248716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A9D8F"/>
                </a:solidFill>
              </a:rPr>
              <a:t>Quick Win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274320" y="2889504"/>
            <a:ext cx="2779776" cy="1865376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6350">
            <a:solidFill>
              <a:srgbClr val="E2EAF4"/>
            </a:solidFill>
            <a:prstDash val="solid"/>
          </a:ln>
          <a:effectLst>
            <a:outerShdw blurRad="127000" dist="25400" dir="8100000" algn="bl" rotWithShape="0">
              <a:srgbClr val="1A2E4A">
                <a:alpha val="9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38912" y="3090672"/>
            <a:ext cx="438912" cy="438912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38912" y="30906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005840" y="3090672"/>
            <a:ext cx="1883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450"/>
                </a:solidFill>
              </a:rPr>
              <a:t>Target Adults 35–64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38912" y="3547872"/>
            <a:ext cx="2468880" cy="36576"/>
          </a:xfrm>
          <a:prstGeom prst="rect">
            <a:avLst/>
          </a:prstGeom>
          <a:solidFill>
            <a:srgbClr val="E2EAF4"/>
          </a:solidFill>
          <a:ln w="12700">
            <a:solidFill>
              <a:srgbClr val="E2EAF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38912" y="3621024"/>
            <a:ext cx="2468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</a:rPr>
              <a:t>Core segment at 49.6% of revenue. Personalised product recommendations and loyalty programmes to strengthen retention and increase lifetime value.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38912" y="4480560"/>
            <a:ext cx="1024128" cy="201168"/>
          </a:xfrm>
          <a:prstGeom prst="roundRect">
            <a:avLst>
              <a:gd name="adj" fmla="val 27273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38912" y="4480560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C4A6E"/>
                </a:solidFill>
              </a:rPr>
              <a:t>Retention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3145536" y="2889504"/>
            <a:ext cx="2779776" cy="1865376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6350">
            <a:solidFill>
              <a:srgbClr val="E2EAF4"/>
            </a:solidFill>
            <a:prstDash val="solid"/>
          </a:ln>
          <a:effectLst>
            <a:outerShdw blurRad="127000" dist="25400" dir="8100000" algn="bl" rotWithShape="0">
              <a:srgbClr val="1A2E4A">
                <a:alpha val="9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3310128" y="3090672"/>
            <a:ext cx="438912" cy="438912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310128" y="30906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3877056" y="3090672"/>
            <a:ext cx="1883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450"/>
                </a:solidFill>
              </a:rPr>
              <a:t>Fix Clothing Margin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310128" y="3547872"/>
            <a:ext cx="2468880" cy="36576"/>
          </a:xfrm>
          <a:prstGeom prst="rect">
            <a:avLst/>
          </a:prstGeom>
          <a:solidFill>
            <a:srgbClr val="E2EAF4"/>
          </a:solidFill>
          <a:ln w="12700">
            <a:solidFill>
              <a:srgbClr val="E2EAF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310128" y="3621024"/>
            <a:ext cx="2468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</a:rPr>
              <a:t>Jerseys at 14.7% margin are the weakest sub-category. A 10% price adjustment or cost reduction could add approximately $840K in annual profit.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3310128" y="4480560"/>
            <a:ext cx="1024128" cy="201168"/>
          </a:xfrm>
          <a:prstGeom prst="roundRect">
            <a:avLst>
              <a:gd name="adj" fmla="val 27273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310128" y="4480560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DC2626"/>
                </a:solidFill>
              </a:rPr>
              <a:t>Urgent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6016752" y="2889504"/>
            <a:ext cx="2779776" cy="1865376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6350">
            <a:solidFill>
              <a:srgbClr val="E2EAF4"/>
            </a:solidFill>
            <a:prstDash val="solid"/>
          </a:ln>
          <a:effectLst>
            <a:outerShdw blurRad="127000" dist="25400" dir="8100000" algn="bl" rotWithShape="0">
              <a:srgbClr val="1A2E4A">
                <a:alpha val="9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6181344" y="3090672"/>
            <a:ext cx="438912" cy="438912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181344" y="30906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6748272" y="3090672"/>
            <a:ext cx="1883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450"/>
                </a:solidFill>
              </a:rPr>
              <a:t>Activate Seniors Segment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6181344" y="3547872"/>
            <a:ext cx="2468880" cy="36576"/>
          </a:xfrm>
          <a:prstGeom prst="rect">
            <a:avLst/>
          </a:prstGeom>
          <a:solidFill>
            <a:srgbClr val="E2EAF4"/>
          </a:solidFill>
          <a:ln w="12700">
            <a:solidFill>
              <a:srgbClr val="E2EAF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181344" y="3621024"/>
            <a:ext cx="2468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</a:rPr>
              <a:t>Seniors (64+) represent only 0.4% of revenue despite growing purchasing power. A dedicated product line is a near-zero-cost growth opportunity.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6181344" y="4480560"/>
            <a:ext cx="1024128" cy="201168"/>
          </a:xfrm>
          <a:prstGeom prst="roundRect">
            <a:avLst>
              <a:gd name="adj" fmla="val 27273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181344" y="4480560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A9D8F"/>
                </a:solidFill>
              </a:rPr>
              <a:t>Growth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E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8046720" y="4297680"/>
            <a:ext cx="822960" cy="822960"/>
          </a:xfrm>
          <a:prstGeom prst="ellipse">
            <a:avLst/>
          </a:prstGeom>
          <a:solidFill>
            <a:srgbClr val="D5E5F5"/>
          </a:solidFill>
          <a:ln w="12700">
            <a:solidFill>
              <a:srgbClr val="D5E5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450"/>
          </a:solidFill>
          <a:ln w="12700">
            <a:solidFill>
              <a:srgbClr val="1E34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82296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554480" y="91440"/>
            <a:ext cx="7498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Findings &amp; Conclusion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0" y="4919472"/>
            <a:ext cx="9144000" cy="201168"/>
          </a:xfrm>
          <a:prstGeom prst="rect">
            <a:avLst/>
          </a:prstGeom>
          <a:solidFill>
            <a:srgbClr val="DDE8F4"/>
          </a:solidFill>
          <a:ln w="12700">
            <a:solidFill>
              <a:srgbClr val="DDE8F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46304" y="4956048"/>
            <a:ext cx="118872" cy="118872"/>
          </a:xfrm>
          <a:prstGeom prst="ellipse">
            <a:avLst/>
          </a:prstGeom>
          <a:solidFill>
            <a:srgbClr val="1E3450"/>
          </a:solidFill>
          <a:ln w="12700">
            <a:solidFill>
              <a:srgbClr val="1E34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493776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E3450"/>
                </a:solidFill>
              </a:rPr>
              <a:t>DATA INSIGHTS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6492240" y="5001768"/>
            <a:ext cx="914400" cy="36576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4937760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</a:rPr>
              <a:t>Europe Bike Store  •  EDA Analysis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74320" y="896112"/>
            <a:ext cx="2779776" cy="1865376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6350">
            <a:solidFill>
              <a:srgbClr val="E2EAF4"/>
            </a:solidFill>
            <a:prstDash val="solid"/>
          </a:ln>
          <a:effectLst>
            <a:outerShdw blurRad="127000" dist="25400" dir="8100000" algn="bl" rotWithShape="0">
              <a:srgbClr val="1A2E4A">
                <a:alpha val="9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38912" y="1060704"/>
            <a:ext cx="457200" cy="457200"/>
          </a:xfrm>
          <a:prstGeom prst="ellipse">
            <a:avLst/>
          </a:prstGeom>
          <a:solidFill>
            <a:srgbClr val="FAE8D4"/>
          </a:solidFill>
          <a:ln w="12700">
            <a:solidFill>
              <a:srgbClr val="FAE8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1060704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💰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05840" y="1097280"/>
            <a:ext cx="1901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3450"/>
                </a:solidFill>
              </a:rPr>
              <a:t>Total Revenue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38912" y="1609344"/>
            <a:ext cx="2505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E07B3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$84.8M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438912" y="2011680"/>
            <a:ext cx="2505456" cy="36576"/>
          </a:xfrm>
          <a:prstGeom prst="rect">
            <a:avLst/>
          </a:prstGeom>
          <a:solidFill>
            <a:srgbClr val="E2EAF4"/>
          </a:solidFill>
          <a:ln w="12700">
            <a:solidFill>
              <a:srgbClr val="E2EA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" y="2084832"/>
            <a:ext cx="25054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Revenue over 2011–2016. Grew 123% from $8.9M to a $19.9M peak in 2015, confirming strong upward momentum.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145536" y="896112"/>
            <a:ext cx="2779776" cy="1865376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6350">
            <a:solidFill>
              <a:srgbClr val="E2EAF4"/>
            </a:solidFill>
            <a:prstDash val="solid"/>
          </a:ln>
          <a:effectLst>
            <a:outerShdw blurRad="127000" dist="25400" dir="8100000" algn="bl" rotWithShape="0">
              <a:srgbClr val="1A2E4A">
                <a:alpha val="9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310128" y="1060704"/>
            <a:ext cx="457200" cy="457200"/>
          </a:xfrm>
          <a:prstGeom prst="ellipse">
            <a:avLst/>
          </a:prstGeom>
          <a:solidFill>
            <a:srgbClr val="FAE8D4"/>
          </a:solidFill>
          <a:ln w="12700">
            <a:solidFill>
              <a:srgbClr val="FAE8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10128" y="1060704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🚴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877056" y="1097280"/>
            <a:ext cx="1901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3450"/>
                </a:solidFill>
              </a:rPr>
              <a:t>Primary Category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310128" y="1609344"/>
            <a:ext cx="2505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E07B3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72.4% Bikes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3310128" y="2011680"/>
            <a:ext cx="2505456" cy="36576"/>
          </a:xfrm>
          <a:prstGeom prst="rect">
            <a:avLst/>
          </a:prstGeom>
          <a:solidFill>
            <a:srgbClr val="E2EAF4"/>
          </a:solidFill>
          <a:ln w="12700">
            <a:solidFill>
              <a:srgbClr val="E2EAF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10128" y="2084832"/>
            <a:ext cx="25054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Bikes dominate but Accessories deliver superior margins (45.5% vs 33.2%). The bundle cross-sell is the top lever.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016752" y="896112"/>
            <a:ext cx="2779776" cy="1865376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6350">
            <a:solidFill>
              <a:srgbClr val="E2EAF4"/>
            </a:solidFill>
            <a:prstDash val="solid"/>
          </a:ln>
          <a:effectLst>
            <a:outerShdw blurRad="127000" dist="25400" dir="8100000" algn="bl" rotWithShape="0">
              <a:srgbClr val="1A2E4A">
                <a:alpha val="9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81344" y="1060704"/>
            <a:ext cx="457200" cy="457200"/>
          </a:xfrm>
          <a:prstGeom prst="ellipse">
            <a:avLst/>
          </a:prstGeom>
          <a:solidFill>
            <a:srgbClr val="FAE8D4"/>
          </a:solidFill>
          <a:ln w="12700">
            <a:solidFill>
              <a:srgbClr val="FAE8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81344" y="1060704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🌍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748272" y="1097280"/>
            <a:ext cx="1901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3450"/>
                </a:solidFill>
              </a:rPr>
              <a:t>USA Market Dominance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181344" y="1609344"/>
            <a:ext cx="2505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E07B3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$27.8M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6181344" y="2011680"/>
            <a:ext cx="2505456" cy="36576"/>
          </a:xfrm>
          <a:prstGeom prst="rect">
            <a:avLst/>
          </a:prstGeom>
          <a:solidFill>
            <a:srgbClr val="E2EAF4"/>
          </a:solidFill>
          <a:ln w="12700">
            <a:solidFill>
              <a:srgbClr val="E2EAF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81344" y="2084832"/>
            <a:ext cx="25054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USA holds 32.7% market share — the critical anchor. Australia at 25.0% confirms a US–Australia revenue axis.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74320" y="2889504"/>
            <a:ext cx="2779776" cy="1865376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6350">
            <a:solidFill>
              <a:srgbClr val="E2EAF4"/>
            </a:solidFill>
            <a:prstDash val="solid"/>
          </a:ln>
          <a:effectLst>
            <a:outerShdw blurRad="127000" dist="25400" dir="8100000" algn="bl" rotWithShape="0">
              <a:srgbClr val="1A2E4A">
                <a:alpha val="9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38912" y="3054096"/>
            <a:ext cx="457200" cy="457200"/>
          </a:xfrm>
          <a:prstGeom prst="ellipse">
            <a:avLst/>
          </a:prstGeom>
          <a:solidFill>
            <a:srgbClr val="FAE8D4"/>
          </a:solidFill>
          <a:ln w="12700">
            <a:solidFill>
              <a:srgbClr val="FAE8D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38912" y="3054096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👥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1005840" y="3090672"/>
            <a:ext cx="1901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3450"/>
                </a:solidFill>
              </a:rPr>
              <a:t>Top Customer Segment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38912" y="3602736"/>
            <a:ext cx="2505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E07B3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49.6% Adults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438912" y="4005072"/>
            <a:ext cx="2505456" cy="36576"/>
          </a:xfrm>
          <a:prstGeom prst="rect">
            <a:avLst/>
          </a:prstGeom>
          <a:solidFill>
            <a:srgbClr val="E2EAF4"/>
          </a:solidFill>
          <a:ln w="12700">
            <a:solidFill>
              <a:srgbClr val="E2EAF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38912" y="4078224"/>
            <a:ext cx="25054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Adults 35-64 lead globally. Near-equal gender split (0.18% gap) confirms universally appealing products.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3145536" y="2889504"/>
            <a:ext cx="2779776" cy="1865376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6350">
            <a:solidFill>
              <a:srgbClr val="E2EAF4"/>
            </a:solidFill>
            <a:prstDash val="solid"/>
          </a:ln>
          <a:effectLst>
            <a:outerShdw blurRad="127000" dist="25400" dir="8100000" algn="bl" rotWithShape="0">
              <a:srgbClr val="1A2E4A">
                <a:alpha val="9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3310128" y="3054096"/>
            <a:ext cx="457200" cy="457200"/>
          </a:xfrm>
          <a:prstGeom prst="ellipse">
            <a:avLst/>
          </a:prstGeom>
          <a:solidFill>
            <a:srgbClr val="FAE8D4"/>
          </a:solidFill>
          <a:ln w="12700">
            <a:solidFill>
              <a:srgbClr val="FAE8D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10128" y="3054096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📅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3877056" y="3090672"/>
            <a:ext cx="1901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3450"/>
                </a:solidFill>
              </a:rPr>
              <a:t>Peak Revenue Period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3310128" y="3602736"/>
            <a:ext cx="2505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E07B3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 / May–Jun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3310128" y="4005072"/>
            <a:ext cx="2505456" cy="36576"/>
          </a:xfrm>
          <a:prstGeom prst="rect">
            <a:avLst/>
          </a:prstGeom>
          <a:solidFill>
            <a:srgbClr val="E2EAF4"/>
          </a:solidFill>
          <a:ln w="12700">
            <a:solidFill>
              <a:srgbClr val="E2EAF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310128" y="4078224"/>
            <a:ext cx="25054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December ($9.1M), June ($9.0M) and May ($8.8M) are the top three months. Seasonal ROI is highest here.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6016752" y="2889504"/>
            <a:ext cx="2779776" cy="1865376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6350">
            <a:solidFill>
              <a:srgbClr val="E2EAF4"/>
            </a:solidFill>
            <a:prstDash val="solid"/>
          </a:ln>
          <a:effectLst>
            <a:outerShdw blurRad="127000" dist="25400" dir="8100000" algn="bl" rotWithShape="0">
              <a:srgbClr val="1A2E4A">
                <a:alpha val="9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6181344" y="3054096"/>
            <a:ext cx="457200" cy="457200"/>
          </a:xfrm>
          <a:prstGeom prst="ellipse">
            <a:avLst/>
          </a:prstGeom>
          <a:solidFill>
            <a:srgbClr val="FAE8D4"/>
          </a:solidFill>
          <a:ln w="12700">
            <a:solidFill>
              <a:srgbClr val="FAE8D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181344" y="3054096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⭐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6748272" y="3090672"/>
            <a:ext cx="1901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3450"/>
                </a:solidFill>
              </a:rPr>
              <a:t>Best Margin Market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6181344" y="3602736"/>
            <a:ext cx="2505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E07B3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Canada 54.8%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6181344" y="4005072"/>
            <a:ext cx="2505456" cy="36576"/>
          </a:xfrm>
          <a:prstGeom prst="rect">
            <a:avLst/>
          </a:prstGeom>
          <a:solidFill>
            <a:srgbClr val="E2EAF4"/>
          </a:solidFill>
          <a:ln w="12700">
            <a:solidFill>
              <a:srgbClr val="E2EAF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181344" y="4078224"/>
            <a:ext cx="25054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Canada leads all markets in profit margin despite ranking 6th in revenue — ideal focus for expansion.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E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8046720" y="4297680"/>
            <a:ext cx="822960" cy="822960"/>
          </a:xfrm>
          <a:prstGeom prst="ellipse">
            <a:avLst/>
          </a:prstGeom>
          <a:solidFill>
            <a:srgbClr val="D5E5F5"/>
          </a:solidFill>
          <a:ln w="12700">
            <a:solidFill>
              <a:srgbClr val="D5E5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450"/>
          </a:solidFill>
          <a:ln w="12700">
            <a:solidFill>
              <a:srgbClr val="1E345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82296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554480" y="91440"/>
            <a:ext cx="7498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Strategic Recommendations &amp; Actionable Insights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0" y="4919472"/>
            <a:ext cx="9144000" cy="201168"/>
          </a:xfrm>
          <a:prstGeom prst="rect">
            <a:avLst/>
          </a:prstGeom>
          <a:solidFill>
            <a:srgbClr val="DDE8F4"/>
          </a:solidFill>
          <a:ln w="12700">
            <a:solidFill>
              <a:srgbClr val="DDE8F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46304" y="4956048"/>
            <a:ext cx="118872" cy="118872"/>
          </a:xfrm>
          <a:prstGeom prst="ellipse">
            <a:avLst/>
          </a:prstGeom>
          <a:solidFill>
            <a:srgbClr val="1E3450"/>
          </a:solidFill>
          <a:ln w="12700">
            <a:solidFill>
              <a:srgbClr val="1E34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493776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E3450"/>
                </a:solidFill>
              </a:rPr>
              <a:t>DATA INSIGHTS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6492240" y="5001768"/>
            <a:ext cx="914400" cy="36576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4937760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</a:rPr>
              <a:t>Europe Bike Store  •  EDA Analysis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74320" y="896112"/>
            <a:ext cx="2779776" cy="1883664"/>
          </a:xfrm>
          <a:prstGeom prst="roundRect">
            <a:avLst>
              <a:gd name="adj" fmla="val 4854"/>
            </a:avLst>
          </a:prstGeom>
          <a:solidFill>
            <a:srgbClr val="FFFFFF"/>
          </a:solidFill>
          <a:ln w="6350">
            <a:solidFill>
              <a:srgbClr val="E2EAF4"/>
            </a:solidFill>
            <a:prstDash val="solid"/>
          </a:ln>
          <a:effectLst>
            <a:outerShdw blurRad="127000" dist="25400" dir="8100000" algn="bl" rotWithShape="0">
              <a:srgbClr val="1A2E4A">
                <a:alpha val="9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38912" y="1060704"/>
            <a:ext cx="438912" cy="438912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10607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" y="1060704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3450"/>
                </a:solidFill>
              </a:rPr>
              <a:t>Bike + Accessories Bundle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450592" y="1060704"/>
            <a:ext cx="530352" cy="274320"/>
          </a:xfrm>
          <a:prstGeom prst="roundRect">
            <a:avLst>
              <a:gd name="adj" fmla="val 27273"/>
            </a:avLst>
          </a:prstGeom>
          <a:solidFill>
            <a:srgbClr val="FAE8D4"/>
          </a:solidFill>
          <a:ln w="12700">
            <a:solidFill>
              <a:srgbClr val="FAE8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450592" y="1097280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07B39"/>
                </a:solidFill>
              </a:rPr>
              <a:t>HIGH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38912" y="1444752"/>
            <a:ext cx="45720" cy="256032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0352" y="1426464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7280"/>
                </a:solidFill>
              </a:rPr>
              <a:t>Evidence: Accessories margin (45.5%) far exceeds Bikes (33.2%).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438912" y="1755648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3450"/>
                </a:solidFill>
              </a:rPr>
              <a:t>Actions: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75488" y="1920240"/>
            <a:ext cx="2505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</a:rPr>
              <a:t>→  Bundle Bike + Helmet/Tires packages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75488" y="2121408"/>
            <a:ext cx="2505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</a:rPr>
              <a:t>→  Upsell at checkout point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75488" y="2322576"/>
            <a:ext cx="2505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</a:rPr>
              <a:t>→  Launch 'Complete Your Ride' campaign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438912" y="2523744"/>
            <a:ext cx="969264" cy="201168"/>
          </a:xfrm>
          <a:prstGeom prst="roundRect">
            <a:avLst>
              <a:gd name="adj" fmla="val 27273"/>
            </a:avLst>
          </a:prstGeom>
          <a:solidFill>
            <a:srgbClr val="FAE8D4"/>
          </a:solidFill>
          <a:ln w="12700">
            <a:solidFill>
              <a:srgbClr val="FAE8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8912" y="2523744"/>
            <a:ext cx="969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E07B39"/>
                </a:solidFill>
              </a:rPr>
              <a:t>Est. Upside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1444752" y="2523744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E3450"/>
                </a:solidFill>
              </a:rPr>
              <a:t>+$2.5–4.0M/yr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145536" y="896112"/>
            <a:ext cx="2779776" cy="1883664"/>
          </a:xfrm>
          <a:prstGeom prst="roundRect">
            <a:avLst>
              <a:gd name="adj" fmla="val 4854"/>
            </a:avLst>
          </a:prstGeom>
          <a:solidFill>
            <a:srgbClr val="FFFFFF"/>
          </a:solidFill>
          <a:ln w="6350">
            <a:solidFill>
              <a:srgbClr val="E2EAF4"/>
            </a:solidFill>
            <a:prstDash val="solid"/>
          </a:ln>
          <a:effectLst>
            <a:outerShdw blurRad="127000" dist="25400" dir="8100000" algn="bl" rotWithShape="0">
              <a:srgbClr val="1A2E4A">
                <a:alpha val="9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310128" y="1060704"/>
            <a:ext cx="438912" cy="438912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10128" y="10607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877056" y="1060704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3450"/>
                </a:solidFill>
              </a:rPr>
              <a:t>Expand Canada Market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321808" y="1097280"/>
            <a:ext cx="530352" cy="201168"/>
          </a:xfrm>
          <a:prstGeom prst="roundRect">
            <a:avLst>
              <a:gd name="adj" fmla="val 27273"/>
            </a:avLst>
          </a:prstGeom>
          <a:solidFill>
            <a:srgbClr val="FAE8D4"/>
          </a:solidFill>
          <a:ln w="12700">
            <a:solidFill>
              <a:srgbClr val="FAE8D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21808" y="1097280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07B39"/>
                </a:solidFill>
              </a:rPr>
              <a:t>HIGH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310128" y="1444752"/>
            <a:ext cx="45720" cy="256032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01568" y="1426464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7280"/>
                </a:solidFill>
              </a:rPr>
              <a:t>Evidence: Canada: 54.8% margin but only 6th in revenue ($7.9M).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3310128" y="1755648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3450"/>
                </a:solidFill>
              </a:rPr>
              <a:t>Actions: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346704" y="1920240"/>
            <a:ext cx="2505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</a:rPr>
              <a:t>→  Double Canada digital ad budget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3346704" y="2121408"/>
            <a:ext cx="2505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</a:rPr>
              <a:t>→  Launch localised campaigns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3346704" y="2322576"/>
            <a:ext cx="2505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</a:rPr>
              <a:t>→  Goal: +30% revenue in 24 months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3310128" y="2523744"/>
            <a:ext cx="969264" cy="201168"/>
          </a:xfrm>
          <a:prstGeom prst="roundRect">
            <a:avLst>
              <a:gd name="adj" fmla="val 27273"/>
            </a:avLst>
          </a:prstGeom>
          <a:solidFill>
            <a:srgbClr val="FAE8D4"/>
          </a:solidFill>
          <a:ln w="12700">
            <a:solidFill>
              <a:srgbClr val="FAE8D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310128" y="2523744"/>
            <a:ext cx="969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E07B39"/>
                </a:solidFill>
              </a:rPr>
              <a:t>Est. Upside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4315968" y="2523744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E3450"/>
                </a:solidFill>
              </a:rPr>
              <a:t>+$1.2–2.0M/yr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016752" y="896112"/>
            <a:ext cx="2779776" cy="1883664"/>
          </a:xfrm>
          <a:prstGeom prst="roundRect">
            <a:avLst>
              <a:gd name="adj" fmla="val 4854"/>
            </a:avLst>
          </a:prstGeom>
          <a:solidFill>
            <a:srgbClr val="FFFFFF"/>
          </a:solidFill>
          <a:ln w="6350">
            <a:solidFill>
              <a:srgbClr val="E2EAF4"/>
            </a:solidFill>
            <a:prstDash val="solid"/>
          </a:ln>
          <a:effectLst>
            <a:outerShdw blurRad="127000" dist="25400" dir="8100000" algn="bl" rotWithShape="0">
              <a:srgbClr val="1A2E4A">
                <a:alpha val="9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181344" y="1060704"/>
            <a:ext cx="438912" cy="438912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181344" y="10607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748272" y="1060704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3450"/>
                </a:solidFill>
              </a:rPr>
              <a:t>Promote Bundle Deals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8193024" y="1097280"/>
            <a:ext cx="530352" cy="201168"/>
          </a:xfrm>
          <a:prstGeom prst="roundRect">
            <a:avLst>
              <a:gd name="adj" fmla="val 27273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193024" y="1097280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A9D8F"/>
                </a:solidFill>
              </a:rPr>
              <a:t>MEDIUM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181344" y="1444752"/>
            <a:ext cx="45720" cy="256032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272784" y="1426464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7280"/>
                </a:solidFill>
              </a:rPr>
              <a:t>Evidence: Premium accessories yield higher combined margin.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6181344" y="1755648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3450"/>
                </a:solidFill>
              </a:rPr>
              <a:t>Actions: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6217920" y="1920240"/>
            <a:ext cx="2505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</a:rPr>
              <a:t>→  Seasonal gift bundles Dec/May–Jun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6217920" y="2121408"/>
            <a:ext cx="2505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</a:rPr>
              <a:t>→  Accessories + Clothing packages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6217920" y="2322576"/>
            <a:ext cx="2505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</a:rPr>
              <a:t>→  Mid-season promotional events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6181344" y="2523744"/>
            <a:ext cx="969264" cy="201168"/>
          </a:xfrm>
          <a:prstGeom prst="roundRect">
            <a:avLst>
              <a:gd name="adj" fmla="val 27273"/>
            </a:avLst>
          </a:prstGeom>
          <a:solidFill>
            <a:srgbClr val="FAE8D4"/>
          </a:solidFill>
          <a:ln w="12700">
            <a:solidFill>
              <a:srgbClr val="FAE8D4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181344" y="2523744"/>
            <a:ext cx="969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E07B39"/>
                </a:solidFill>
              </a:rPr>
              <a:t>Est. Upside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7187184" y="2523744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E3450"/>
                </a:solidFill>
              </a:rPr>
              <a:t>+$0.8–1.2M/yr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274320" y="2907792"/>
            <a:ext cx="2779776" cy="1883664"/>
          </a:xfrm>
          <a:prstGeom prst="roundRect">
            <a:avLst>
              <a:gd name="adj" fmla="val 4854"/>
            </a:avLst>
          </a:prstGeom>
          <a:solidFill>
            <a:srgbClr val="FFFFFF"/>
          </a:solidFill>
          <a:ln w="6350">
            <a:solidFill>
              <a:srgbClr val="E2EAF4"/>
            </a:solidFill>
            <a:prstDash val="solid"/>
          </a:ln>
          <a:effectLst>
            <a:outerShdw blurRad="127000" dist="25400" dir="8100000" algn="bl" rotWithShape="0">
              <a:srgbClr val="1A2E4A">
                <a:alpha val="9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438912" y="3072384"/>
            <a:ext cx="438912" cy="438912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38912" y="30723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1005840" y="3072384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3450"/>
                </a:solidFill>
              </a:rPr>
              <a:t>Seasonal Peak Campaigns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2450592" y="3108960"/>
            <a:ext cx="530352" cy="201168"/>
          </a:xfrm>
          <a:prstGeom prst="roundRect">
            <a:avLst>
              <a:gd name="adj" fmla="val 27273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450592" y="3108960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A9D8F"/>
                </a:solidFill>
              </a:rPr>
              <a:t>MEDIUM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438912" y="3456432"/>
            <a:ext cx="45720" cy="256032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30352" y="3438144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7280"/>
                </a:solidFill>
              </a:rPr>
              <a:t>Evidence: May/Jun and December consistently lead all months.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438912" y="3767328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3450"/>
                </a:solidFill>
              </a:rPr>
              <a:t>Actions: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475488" y="3931920"/>
            <a:ext cx="2505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</a:rPr>
              <a:t>→  Front-load May/June inventory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475488" y="4133088"/>
            <a:ext cx="2505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</a:rPr>
              <a:t>→  Christmas campaign in October</a:t>
            </a:r>
            <a:endParaRPr lang="en-US" sz="750" dirty="0"/>
          </a:p>
        </p:txBody>
      </p:sp>
      <p:sp>
        <p:nvSpPr>
          <p:cNvPr id="73" name="Text 71"/>
          <p:cNvSpPr/>
          <p:nvPr/>
        </p:nvSpPr>
        <p:spPr>
          <a:xfrm>
            <a:off x="475488" y="4334256"/>
            <a:ext cx="2505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</a:rPr>
              <a:t>→  Flash sales for July–Sep slump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438912" y="4535424"/>
            <a:ext cx="969264" cy="201168"/>
          </a:xfrm>
          <a:prstGeom prst="roundRect">
            <a:avLst>
              <a:gd name="adj" fmla="val 27273"/>
            </a:avLst>
          </a:prstGeom>
          <a:solidFill>
            <a:srgbClr val="FAE8D4"/>
          </a:solidFill>
          <a:ln w="12700">
            <a:solidFill>
              <a:srgbClr val="FAE8D4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38912" y="4535424"/>
            <a:ext cx="969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E07B39"/>
                </a:solidFill>
              </a:rPr>
              <a:t>Est. Upside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1444752" y="4535424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E3450"/>
                </a:solidFill>
              </a:rPr>
              <a:t>+$0.6–0.9M/yr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3145536" y="2907792"/>
            <a:ext cx="2779776" cy="1883664"/>
          </a:xfrm>
          <a:prstGeom prst="roundRect">
            <a:avLst>
              <a:gd name="adj" fmla="val 4854"/>
            </a:avLst>
          </a:prstGeom>
          <a:solidFill>
            <a:srgbClr val="FFFFFF"/>
          </a:solidFill>
          <a:ln w="6350">
            <a:solidFill>
              <a:srgbClr val="E2EAF4"/>
            </a:solidFill>
            <a:prstDash val="solid"/>
          </a:ln>
          <a:effectLst>
            <a:outerShdw blurRad="127000" dist="25400" dir="8100000" algn="bl" rotWithShape="0">
              <a:srgbClr val="1A2E4A">
                <a:alpha val="9000"/>
              </a:srgbClr>
            </a:outerShdw>
          </a:effectLst>
        </p:spPr>
      </p:sp>
      <p:sp>
        <p:nvSpPr>
          <p:cNvPr id="78" name="Shape 76"/>
          <p:cNvSpPr/>
          <p:nvPr/>
        </p:nvSpPr>
        <p:spPr>
          <a:xfrm>
            <a:off x="3310128" y="3072384"/>
            <a:ext cx="438912" cy="438912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310128" y="30723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80" name="Text 78"/>
          <p:cNvSpPr/>
          <p:nvPr/>
        </p:nvSpPr>
        <p:spPr>
          <a:xfrm>
            <a:off x="3877056" y="3072384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3450"/>
                </a:solidFill>
              </a:rPr>
              <a:t>Re-engage Youth &amp; Seniors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5321808" y="3108960"/>
            <a:ext cx="530352" cy="201168"/>
          </a:xfrm>
          <a:prstGeom prst="roundRect">
            <a:avLst>
              <a:gd name="adj" fmla="val 27273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321808" y="3108960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A9D8F"/>
                </a:solidFill>
              </a:rPr>
              <a:t>MEDIUM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3310128" y="3456432"/>
            <a:ext cx="45720" cy="256032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401568" y="3438144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7280"/>
                </a:solidFill>
              </a:rPr>
              <a:t>Evidence: Youth &lt;25 and Seniors 64+ are underdeveloped.</a:t>
            </a:r>
            <a:endParaRPr lang="en-US" sz="700" dirty="0"/>
          </a:p>
        </p:txBody>
      </p:sp>
      <p:sp>
        <p:nvSpPr>
          <p:cNvPr id="85" name="Text 83"/>
          <p:cNvSpPr/>
          <p:nvPr/>
        </p:nvSpPr>
        <p:spPr>
          <a:xfrm>
            <a:off x="3310128" y="3767328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3450"/>
                </a:solidFill>
              </a:rPr>
              <a:t>Actions:</a:t>
            </a:r>
            <a:endParaRPr lang="en-US" sz="800" dirty="0"/>
          </a:p>
        </p:txBody>
      </p:sp>
      <p:sp>
        <p:nvSpPr>
          <p:cNvPr id="86" name="Text 84"/>
          <p:cNvSpPr/>
          <p:nvPr/>
        </p:nvSpPr>
        <p:spPr>
          <a:xfrm>
            <a:off x="3346704" y="3931920"/>
            <a:ext cx="2505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</a:rPr>
              <a:t>→  Youth-focused product line launch</a:t>
            </a:r>
            <a:endParaRPr lang="en-US" sz="750" dirty="0"/>
          </a:p>
        </p:txBody>
      </p:sp>
      <p:sp>
        <p:nvSpPr>
          <p:cNvPr id="87" name="Text 85"/>
          <p:cNvSpPr/>
          <p:nvPr/>
        </p:nvSpPr>
        <p:spPr>
          <a:xfrm>
            <a:off x="3346704" y="4133088"/>
            <a:ext cx="2505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</a:rPr>
              <a:t>→  Senior-friendly accessories range</a:t>
            </a:r>
            <a:endParaRPr lang="en-US" sz="750" dirty="0"/>
          </a:p>
        </p:txBody>
      </p:sp>
      <p:sp>
        <p:nvSpPr>
          <p:cNvPr id="88" name="Text 86"/>
          <p:cNvSpPr/>
          <p:nvPr/>
        </p:nvSpPr>
        <p:spPr>
          <a:xfrm>
            <a:off x="3346704" y="4334256"/>
            <a:ext cx="2505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</a:rPr>
              <a:t>→  Targeted loyalty win-back campaigns</a:t>
            </a:r>
            <a:endParaRPr lang="en-US" sz="750" dirty="0"/>
          </a:p>
        </p:txBody>
      </p:sp>
      <p:sp>
        <p:nvSpPr>
          <p:cNvPr id="89" name="Shape 87"/>
          <p:cNvSpPr/>
          <p:nvPr/>
        </p:nvSpPr>
        <p:spPr>
          <a:xfrm>
            <a:off x="3310128" y="4535424"/>
            <a:ext cx="969264" cy="201168"/>
          </a:xfrm>
          <a:prstGeom prst="roundRect">
            <a:avLst>
              <a:gd name="adj" fmla="val 27273"/>
            </a:avLst>
          </a:prstGeom>
          <a:solidFill>
            <a:srgbClr val="FAE8D4"/>
          </a:solidFill>
          <a:ln w="12700">
            <a:solidFill>
              <a:srgbClr val="FAE8D4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3310128" y="4535424"/>
            <a:ext cx="969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E07B39"/>
                </a:solidFill>
              </a:rPr>
              <a:t>Est. Upside</a:t>
            </a:r>
            <a:endParaRPr lang="en-US" sz="700" dirty="0"/>
          </a:p>
        </p:txBody>
      </p:sp>
      <p:sp>
        <p:nvSpPr>
          <p:cNvPr id="91" name="Text 89"/>
          <p:cNvSpPr/>
          <p:nvPr/>
        </p:nvSpPr>
        <p:spPr>
          <a:xfrm>
            <a:off x="4315968" y="4535424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E3450"/>
                </a:solidFill>
              </a:rPr>
              <a:t>+$0.5–0.8M/yr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6016752" y="2907792"/>
            <a:ext cx="2779776" cy="1883664"/>
          </a:xfrm>
          <a:prstGeom prst="roundRect">
            <a:avLst>
              <a:gd name="adj" fmla="val 4854"/>
            </a:avLst>
          </a:prstGeom>
          <a:solidFill>
            <a:srgbClr val="FFFFFF"/>
          </a:solidFill>
          <a:ln w="6350">
            <a:solidFill>
              <a:srgbClr val="E2EAF4"/>
            </a:solidFill>
            <a:prstDash val="solid"/>
          </a:ln>
          <a:effectLst>
            <a:outerShdw blurRad="127000" dist="25400" dir="8100000" algn="bl" rotWithShape="0">
              <a:srgbClr val="1A2E4A">
                <a:alpha val="9000"/>
              </a:srgbClr>
            </a:outerShdw>
          </a:effectLst>
        </p:spPr>
      </p:sp>
      <p:sp>
        <p:nvSpPr>
          <p:cNvPr id="93" name="Shape 91"/>
          <p:cNvSpPr/>
          <p:nvPr/>
        </p:nvSpPr>
        <p:spPr>
          <a:xfrm>
            <a:off x="6181344" y="3072384"/>
            <a:ext cx="438912" cy="438912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6181344" y="30723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95" name="Text 93"/>
          <p:cNvSpPr/>
          <p:nvPr/>
        </p:nvSpPr>
        <p:spPr>
          <a:xfrm>
            <a:off x="6748272" y="3072384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3450"/>
                </a:solidFill>
              </a:rPr>
              <a:t>Fix Jersey Pricing</a:t>
            </a:r>
            <a:endParaRPr lang="en-US" sz="950" dirty="0"/>
          </a:p>
        </p:txBody>
      </p:sp>
      <p:sp>
        <p:nvSpPr>
          <p:cNvPr id="96" name="Shape 94"/>
          <p:cNvSpPr/>
          <p:nvPr/>
        </p:nvSpPr>
        <p:spPr>
          <a:xfrm>
            <a:off x="8193024" y="3108960"/>
            <a:ext cx="530352" cy="201168"/>
          </a:xfrm>
          <a:prstGeom prst="roundRect">
            <a:avLst>
              <a:gd name="adj" fmla="val 27273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8193024" y="3108960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A34A"/>
                </a:solidFill>
              </a:rPr>
              <a:t>QUICK WIN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6181344" y="3456432"/>
            <a:ext cx="45720" cy="256032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6272784" y="3438144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7280"/>
                </a:solidFill>
              </a:rPr>
              <a:t>Evidence: Jerseys: lowest margin at 14.7% across all 17 sub-cats.</a:t>
            </a:r>
            <a:endParaRPr lang="en-US" sz="700" dirty="0"/>
          </a:p>
        </p:txBody>
      </p:sp>
      <p:sp>
        <p:nvSpPr>
          <p:cNvPr id="100" name="Text 98"/>
          <p:cNvSpPr/>
          <p:nvPr/>
        </p:nvSpPr>
        <p:spPr>
          <a:xfrm>
            <a:off x="6181344" y="3767328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3450"/>
                </a:solidFill>
              </a:rPr>
              <a:t>Actions:</a:t>
            </a:r>
            <a:endParaRPr lang="en-US" sz="800" dirty="0"/>
          </a:p>
        </p:txBody>
      </p:sp>
      <p:sp>
        <p:nvSpPr>
          <p:cNvPr id="101" name="Text 99"/>
          <p:cNvSpPr/>
          <p:nvPr/>
        </p:nvSpPr>
        <p:spPr>
          <a:xfrm>
            <a:off x="6217920" y="3931920"/>
            <a:ext cx="2505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</a:rPr>
              <a:t>→  Raise Jersey price by 10–15%</a:t>
            </a:r>
            <a:endParaRPr lang="en-US" sz="750" dirty="0"/>
          </a:p>
        </p:txBody>
      </p:sp>
      <p:sp>
        <p:nvSpPr>
          <p:cNvPr id="102" name="Text 100"/>
          <p:cNvSpPr/>
          <p:nvPr/>
        </p:nvSpPr>
        <p:spPr>
          <a:xfrm>
            <a:off x="6217920" y="4133088"/>
            <a:ext cx="2505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</a:rPr>
              <a:t>→  Negotiate lower production costs</a:t>
            </a:r>
            <a:endParaRPr lang="en-US" sz="750" dirty="0"/>
          </a:p>
        </p:txBody>
      </p:sp>
      <p:sp>
        <p:nvSpPr>
          <p:cNvPr id="103" name="Text 101"/>
          <p:cNvSpPr/>
          <p:nvPr/>
        </p:nvSpPr>
        <p:spPr>
          <a:xfrm>
            <a:off x="6217920" y="4334256"/>
            <a:ext cx="2505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</a:rPr>
              <a:t>→  Bundle Jerseys with high-margin Shorts</a:t>
            </a:r>
            <a:endParaRPr lang="en-US" sz="750" dirty="0"/>
          </a:p>
        </p:txBody>
      </p:sp>
      <p:sp>
        <p:nvSpPr>
          <p:cNvPr id="104" name="Shape 102"/>
          <p:cNvSpPr/>
          <p:nvPr/>
        </p:nvSpPr>
        <p:spPr>
          <a:xfrm>
            <a:off x="6181344" y="4535424"/>
            <a:ext cx="969264" cy="201168"/>
          </a:xfrm>
          <a:prstGeom prst="roundRect">
            <a:avLst>
              <a:gd name="adj" fmla="val 27273"/>
            </a:avLst>
          </a:prstGeom>
          <a:solidFill>
            <a:srgbClr val="FAE8D4"/>
          </a:solidFill>
          <a:ln w="12700">
            <a:solidFill>
              <a:srgbClr val="FAE8D4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6181344" y="4535424"/>
            <a:ext cx="969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E07B39"/>
                </a:solidFill>
              </a:rPr>
              <a:t>Est. Upside</a:t>
            </a:r>
            <a:endParaRPr lang="en-US" sz="700" dirty="0"/>
          </a:p>
        </p:txBody>
      </p:sp>
      <p:sp>
        <p:nvSpPr>
          <p:cNvPr id="106" name="Text 104"/>
          <p:cNvSpPr/>
          <p:nvPr/>
        </p:nvSpPr>
        <p:spPr>
          <a:xfrm>
            <a:off x="7187184" y="4535424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E3450"/>
                </a:solidFill>
              </a:rPr>
              <a:t>+$0.3–0.5M/yr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8046720" y="4297680"/>
            <a:ext cx="822960" cy="822960"/>
          </a:xfrm>
          <a:prstGeom prst="ellipse">
            <a:avLst/>
          </a:prstGeom>
          <a:solidFill>
            <a:srgbClr val="16294A"/>
          </a:solidFill>
          <a:ln w="12700">
            <a:solidFill>
              <a:srgbClr val="1629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438912" cy="51435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92608"/>
            <a:ext cx="1828800" cy="6400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675120" y="4754880"/>
            <a:ext cx="1828800" cy="6400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1097280"/>
            <a:ext cx="6583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2194560" y="2240280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E07B39"/>
                </a:solidFill>
              </a:rPr>
              <a:t>Questions &amp; Discussion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3383280" y="2724912"/>
            <a:ext cx="2377440" cy="6400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2907792"/>
            <a:ext cx="1920240" cy="987552"/>
          </a:xfrm>
          <a:prstGeom prst="roundRect">
            <a:avLst>
              <a:gd name="adj" fmla="val 9259"/>
            </a:avLst>
          </a:prstGeom>
          <a:solidFill>
            <a:srgbClr val="1A3260"/>
          </a:solidFill>
          <a:ln/>
          <a:effectLst>
            <a:outerShdw blurRad="127000" dist="25400" dir="8100000" algn="bl" rotWithShape="0">
              <a:srgbClr val="1A2E4A">
                <a:alpha val="9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8368" y="3017520"/>
            <a:ext cx="19202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07B3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$84.8M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58368" y="3566160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ABCC"/>
                </a:solidFill>
              </a:rPr>
              <a:t>Total Revenue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06624" y="2907792"/>
            <a:ext cx="1920240" cy="987552"/>
          </a:xfrm>
          <a:prstGeom prst="roundRect">
            <a:avLst>
              <a:gd name="adj" fmla="val 9259"/>
            </a:avLst>
          </a:prstGeom>
          <a:solidFill>
            <a:srgbClr val="1A3260"/>
          </a:solidFill>
          <a:ln/>
          <a:effectLst>
            <a:outerShdw blurRad="127000" dist="25400" dir="8100000" algn="bl" rotWithShape="0">
              <a:srgbClr val="1A2E4A">
                <a:alpha val="9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706624" y="3017520"/>
            <a:ext cx="19202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A9D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33.9%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706624" y="3566160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ABCC"/>
                </a:solidFill>
              </a:rPr>
              <a:t>Avg Margin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54880" y="2907792"/>
            <a:ext cx="1920240" cy="987552"/>
          </a:xfrm>
          <a:prstGeom prst="roundRect">
            <a:avLst>
              <a:gd name="adj" fmla="val 9259"/>
            </a:avLst>
          </a:prstGeom>
          <a:solidFill>
            <a:srgbClr val="1A3260"/>
          </a:solidFill>
          <a:ln/>
          <a:effectLst>
            <a:outerShdw blurRad="127000" dist="25400" dir="8100000" algn="bl" rotWithShape="0">
              <a:srgbClr val="1A2E4A">
                <a:alpha val="9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54880" y="3017520"/>
            <a:ext cx="19202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07B3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2015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754880" y="3566160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ABCC"/>
                </a:solidFill>
              </a:rPr>
              <a:t>Peak Year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803136" y="2907792"/>
            <a:ext cx="1920240" cy="987552"/>
          </a:xfrm>
          <a:prstGeom prst="roundRect">
            <a:avLst>
              <a:gd name="adj" fmla="val 9259"/>
            </a:avLst>
          </a:prstGeom>
          <a:solidFill>
            <a:srgbClr val="1A3260"/>
          </a:solidFill>
          <a:ln/>
          <a:effectLst>
            <a:outerShdw blurRad="127000" dist="25400" dir="8100000" algn="bl" rotWithShape="0">
              <a:srgbClr val="1A2E4A">
                <a:alpha val="9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803136" y="3017520"/>
            <a:ext cx="19202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A9D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Canada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803136" y="3566160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ABCC"/>
                </a:solidFill>
              </a:rPr>
              <a:t>Best Market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280160" y="4114800"/>
            <a:ext cx="6583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577AA"/>
                </a:solidFill>
              </a:rPr>
              <a:t>Europe Bike Store  ·  EDA Analysis  ·  2011–2016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1826</Words>
  <Application>Microsoft Office PowerPoint</Application>
  <PresentationFormat>On-screen Show (16:9)</PresentationFormat>
  <Paragraphs>366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Europe Bike Store — EDA Analysis</dc:title>
  <dc:subject>PptxGenJS Presentation</dc:subject>
  <dc:creator>PptxGenJS</dc:creator>
  <cp:lastModifiedBy>mohmedmarof2551997@gmail.com</cp:lastModifiedBy>
  <cp:revision>4</cp:revision>
  <dcterms:created xsi:type="dcterms:W3CDTF">2026-03-15T01:02:41Z</dcterms:created>
  <dcterms:modified xsi:type="dcterms:W3CDTF">2026-03-15T01:21:36Z</dcterms:modified>
</cp:coreProperties>
</file>